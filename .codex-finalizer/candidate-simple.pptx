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0673a90aac4ae0" /><Relationship Type="http://schemas.openxmlformats.org/officeDocument/2006/relationships/extended-properties" Target="/docProps/app.xml" Id="Rbe9c58c0f1144b81" /><Relationship Type="http://schemas.openxmlformats.org/officeDocument/2006/relationships/officeDocument" Target="/ppt/presentation.xml" Id="R6849722bdd17449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56f807654b04718"/>
  </p:sldMasterIdLst>
  <p:notesMasterIdLst>
    <p:notesMasterId xmlns:r="http://schemas.openxmlformats.org/officeDocument/2006/relationships" r:id="R25b7b3b41fca4689"/>
  </p:notesMasterIdLst>
  <p:sldIdLst>
    <p:sldId xmlns:r="http://schemas.openxmlformats.org/officeDocument/2006/relationships" id="256" r:id="R7fe2156606544589"/>
    <p:sldId xmlns:r="http://schemas.openxmlformats.org/officeDocument/2006/relationships" id="257" r:id="R7a043f2b52ca4825"/>
    <p:sldId xmlns:r="http://schemas.openxmlformats.org/officeDocument/2006/relationships" id="258" r:id="R19f83a331cd74483"/>
    <p:sldId xmlns:r="http://schemas.openxmlformats.org/officeDocument/2006/relationships" id="259" r:id="R6f7d832bffa8413a"/>
    <p:sldId xmlns:r="http://schemas.openxmlformats.org/officeDocument/2006/relationships" id="260" r:id="R4b790dcd8c2f46b6"/>
    <p:sldId xmlns:r="http://schemas.openxmlformats.org/officeDocument/2006/relationships" id="261" r:id="Re4567b6ed4544806"/>
    <p:sldId xmlns:r="http://schemas.openxmlformats.org/officeDocument/2006/relationships" id="262" r:id="Rb84976469a7748aa"/>
    <p:sldId xmlns:r="http://schemas.openxmlformats.org/officeDocument/2006/relationships" id="263" r:id="R2d8372adfdef49a7"/>
    <p:sldId xmlns:r="http://schemas.openxmlformats.org/officeDocument/2006/relationships" id="264" r:id="Rfd90ddec3cc54a5f"/>
    <p:sldId xmlns:r="http://schemas.openxmlformats.org/officeDocument/2006/relationships" id="265" r:id="Ra93cef1662934ce6"/>
    <p:sldId xmlns:r="http://schemas.openxmlformats.org/officeDocument/2006/relationships" id="266" r:id="Rc4657ba12f74419c"/>
    <p:sldId xmlns:r="http://schemas.openxmlformats.org/officeDocument/2006/relationships" id="267" r:id="Ra4bc1a2b1d864ccb"/>
    <p:sldId xmlns:r="http://schemas.openxmlformats.org/officeDocument/2006/relationships" id="268" r:id="R9a0a773e387f4b7c"/>
    <p:sldId xmlns:r="http://schemas.openxmlformats.org/officeDocument/2006/relationships" id="269" r:id="R87a4886dd9154f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725b16fa2d4b75" /><Relationship Type="http://schemas.openxmlformats.org/officeDocument/2006/relationships/slideMaster" Target="/ppt/slideMasters/slideMaster1.xml" Id="Re56f807654b04718" /><Relationship Type="http://schemas.openxmlformats.org/officeDocument/2006/relationships/notesMaster" Target="/ppt/notesMasters/notesMaster1.xml" Id="R25b7b3b41fca4689" /><Relationship Type="http://schemas.openxmlformats.org/officeDocument/2006/relationships/presProps" Target="/ppt/presProps.xml" Id="R519e9e07874349ed" /><Relationship Type="http://schemas.openxmlformats.org/officeDocument/2006/relationships/tableStyles" Target="/ppt/tableStyles.xml" Id="Ra68c17645ad44843" /><Relationship Type="http://schemas.openxmlformats.org/officeDocument/2006/relationships/slide" Target="/ppt/slides/slide1.xml" Id="R7fe2156606544589" /><Relationship Type="http://schemas.openxmlformats.org/officeDocument/2006/relationships/slide" Target="/ppt/slides/slide2.xml" Id="R7a043f2b52ca4825" /><Relationship Type="http://schemas.openxmlformats.org/officeDocument/2006/relationships/slide" Target="/ppt/slides/slide3.xml" Id="R19f83a331cd74483" /><Relationship Type="http://schemas.openxmlformats.org/officeDocument/2006/relationships/slide" Target="/ppt/slides/slide4.xml" Id="R6f7d832bffa8413a" /><Relationship Type="http://schemas.openxmlformats.org/officeDocument/2006/relationships/slide" Target="/ppt/slides/slide5.xml" Id="R4b790dcd8c2f46b6" /><Relationship Type="http://schemas.openxmlformats.org/officeDocument/2006/relationships/slide" Target="/ppt/slides/slide6.xml" Id="Re4567b6ed4544806" /><Relationship Type="http://schemas.openxmlformats.org/officeDocument/2006/relationships/slide" Target="/ppt/slides/slide7.xml" Id="Rb84976469a7748aa" /><Relationship Type="http://schemas.openxmlformats.org/officeDocument/2006/relationships/slide" Target="/ppt/slides/slide8.xml" Id="R2d8372adfdef49a7" /><Relationship Type="http://schemas.openxmlformats.org/officeDocument/2006/relationships/slide" Target="/ppt/slides/slide9.xml" Id="Rfd90ddec3cc54a5f" /><Relationship Type="http://schemas.openxmlformats.org/officeDocument/2006/relationships/slide" Target="/ppt/slides/slide10.xml" Id="Ra93cef1662934ce6" /><Relationship Type="http://schemas.openxmlformats.org/officeDocument/2006/relationships/slide" Target="/ppt/slides/slide11.xml" Id="Rc4657ba12f74419c" /><Relationship Type="http://schemas.openxmlformats.org/officeDocument/2006/relationships/slide" Target="/ppt/slides/slide12.xml" Id="Ra4bc1a2b1d864ccb" /><Relationship Type="http://schemas.openxmlformats.org/officeDocument/2006/relationships/slide" Target="/ppt/slides/slide13.xml" Id="R9a0a773e387f4b7c" /><Relationship Type="http://schemas.openxmlformats.org/officeDocument/2006/relationships/slide" Target="/ppt/slides/slide14.xml" Id="R87a4886dd9154f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c29de2104449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e964baed534fee" /><Relationship Type="http://schemas.openxmlformats.org/officeDocument/2006/relationships/notesMaster" Target="/ppt/notesMasters/notesMaster1.xml" Id="R68ff83727f0d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5a3450a9c406b" /><Relationship Type="http://schemas.openxmlformats.org/officeDocument/2006/relationships/notesMaster" Target="/ppt/notesMasters/notesMaster1.xml" Id="R43bd535c322945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05eb53b6ad4106" /><Relationship Type="http://schemas.openxmlformats.org/officeDocument/2006/relationships/notesMaster" Target="/ppt/notesMasters/notesMaster1.xml" Id="R2f50e27e66d44d0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46643d45f240d4" /><Relationship Type="http://schemas.openxmlformats.org/officeDocument/2006/relationships/notesMaster" Target="/ppt/notesMasters/notesMaster1.xml" Id="Rf2f89103b66a46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31339f3211482f" /><Relationship Type="http://schemas.openxmlformats.org/officeDocument/2006/relationships/notesMaster" Target="/ppt/notesMasters/notesMaster1.xml" Id="R4aa24582ef4e408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3d1bf37f434a50" /><Relationship Type="http://schemas.openxmlformats.org/officeDocument/2006/relationships/notesMaster" Target="/ppt/notesMasters/notesMaster1.xml" Id="R5061d8a47d474a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6136cf92f164f26" /><Relationship Type="http://schemas.openxmlformats.org/officeDocument/2006/relationships/notesMaster" Target="/ppt/notesMasters/notesMaster1.xml" Id="Rec839b2e09484b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a15f9b429d7471c" /><Relationship Type="http://schemas.openxmlformats.org/officeDocument/2006/relationships/notesMaster" Target="/ppt/notesMasters/notesMaster1.xml" Id="Ra9c62386959e40a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357d57f3b64f33" /><Relationship Type="http://schemas.openxmlformats.org/officeDocument/2006/relationships/notesMaster" Target="/ppt/notesMasters/notesMaster1.xml" Id="R332127e40deb470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8383ca08dc4c6b" /><Relationship Type="http://schemas.openxmlformats.org/officeDocument/2006/relationships/notesMaster" Target="/ppt/notesMasters/notesMaster1.xml" Id="Rdfbc2d484b254d5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c424591b584dc0" /><Relationship Type="http://schemas.openxmlformats.org/officeDocument/2006/relationships/notesMaster" Target="/ppt/notesMasters/notesMaster1.xml" Id="R2168febc1f8241e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9dba4f4fa64092" /><Relationship Type="http://schemas.openxmlformats.org/officeDocument/2006/relationships/notesMaster" Target="/ppt/notesMasters/notesMaster1.xml" Id="Rf76e1d53b48c415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544056d915f4e83" /><Relationship Type="http://schemas.openxmlformats.org/officeDocument/2006/relationships/notesMaster" Target="/ppt/notesMasters/notesMaster1.xml" Id="R33c51c8a4797460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8556728d3f04e45" /><Relationship Type="http://schemas.openxmlformats.org/officeDocument/2006/relationships/notesMaster" Target="/ppt/notesMasters/notesMaster1.xml" Id="R8c34bb30224549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Presentation based on the commodity trading module in this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General domain explanation, illustrated with cocoa. This is not a claim about a particular live trade.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quantity example only. A position is the amount purchased but not yet sold for this simple long-trade example.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1, 2 and 5. Odoo 19 analytic-account documentation: https://www.odoo.com/documentation/19.0/applications/finance/accounting/reporting/analytic_accounting.html. Analytic accounts summarize attributed costs and revenue from accounting entries. The optional Trade Budget addon has an analytic account field documented as intended for future accounting integration; this slide does not claim that the Trade automatically populates an analytic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1, 3 and 4. If no matching open Trade exists, a confirmed sale can create a short Trade.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3 and 4. Implementation hooks include purchase_order.py, sale_order.py, account_move_lifecycle.py and stock_picking.py.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5, 6 and 9. P&amp;L means profit and loss. A user enters the current market price. Commercial open quantity and physical on-hand quantity can differ.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arithmetic only, not live data. Formula basis: ele_trading README, section 6. It assumes no extra costs or revenue and a user-entered market price of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2, 4, 7 and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3 and 5. Implementation: purchase_order.py, sale_order.py, account_move_lifecycle.py, stock_picking.py, trading_trade_pnl.py.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product/commodity_trading/ele_trading/README.md, sections 8 and 10. Budget source: product/commodity_trading/ele_trading_budget/README.md. Budgets are a separate optional addon.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cue. Prepare sample data in the live Odoo environment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cue for the live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619a655cf24e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40241e936a24bd1" /><Relationship Type="http://schemas.openxmlformats.org/officeDocument/2006/relationships/slideLayout" Target="/ppt/slideLayouts/slideLayout1.xml" Id="R900a7e4f8b9c4b1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0a7e4f8b9c4b1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0ad7c5b744da1" /><Relationship Type="http://schemas.openxmlformats.org/officeDocument/2006/relationships/notesSlide" Target="/ppt/notesSlides/notesSlide1.xml" Id="Rfd95e836837347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c1c2f53fd84cd5" /><Relationship Type="http://schemas.openxmlformats.org/officeDocument/2006/relationships/notesSlide" Target="/ppt/notesSlides/notesSlide2.xml" Id="Rd5d634838cf6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9d0cc140454bc4" /><Relationship Type="http://schemas.openxmlformats.org/officeDocument/2006/relationships/notesSlide" Target="/ppt/notesSlides/notesSlide3.xml" Id="R02ca7817b5a343c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82c8318e3489c" /><Relationship Type="http://schemas.openxmlformats.org/officeDocument/2006/relationships/notesSlide" Target="/ppt/notesSlides/notesSlide4.xml" Id="R06effa262fa24b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121631a0b48fd" /><Relationship Type="http://schemas.openxmlformats.org/officeDocument/2006/relationships/notesSlide" Target="/ppt/notesSlides/notesSlide5.xml" Id="Rb9e08b77f26a40a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d4f2a3c5234aca" /><Relationship Type="http://schemas.openxmlformats.org/officeDocument/2006/relationships/notesSlide" Target="/ppt/notesSlides/notesSlide6.xml" Id="R72a84c17af824e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a208be07d44a05" /><Relationship Type="http://schemas.openxmlformats.org/officeDocument/2006/relationships/notesSlide" Target="/ppt/notesSlides/notesSlide7.xml" Id="R2ce207c94a64439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d2dd86fa84ce4" /><Relationship Type="http://schemas.openxmlformats.org/officeDocument/2006/relationships/notesSlide" Target="/ppt/notesSlides/notesSlide8.xml" Id="Rf79fc9a552b741e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d5dab9651b464c" /><Relationship Type="http://schemas.openxmlformats.org/officeDocument/2006/relationships/notesSlide" Target="/ppt/notesSlides/notesSlide9.xml" Id="R14b03e2de74c45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f35c9f1ed4fdc" /><Relationship Type="http://schemas.openxmlformats.org/officeDocument/2006/relationships/notesSlide" Target="/ppt/notesSlides/notesSlide10.xml" Id="Re84cb69d362048b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d67c1360ad41fc" /><Relationship Type="http://schemas.openxmlformats.org/officeDocument/2006/relationships/notesSlide" Target="/ppt/notesSlides/notesSlide11.xml" Id="R663df90d13f640c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f07a68d604a1a" /><Relationship Type="http://schemas.openxmlformats.org/officeDocument/2006/relationships/notesSlide" Target="/ppt/notesSlides/notesSlide12.xml" Id="Ra05dd13a829f4b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2a72dea7c4e1b" /><Relationship Type="http://schemas.openxmlformats.org/officeDocument/2006/relationships/notesSlide" Target="/ppt/notesSlides/notesSlide13.xml" Id="Re6857b97bdec49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b40b49fbb24d40" /><Relationship Type="http://schemas.openxmlformats.org/officeDocument/2006/relationships/notesSlide" Target="/ppt/notesSlides/notesSlide14.xml" Id="R07a41c04b9d34e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68C6B2-DE76-4FD0-908D-9119A2CC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2925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AN ODOO PRODUCT 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C9176-9B42-48C3-8F90-6C2711A45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10668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When the Standard Way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Isn't Enough:</a:t>
            </a:r>
          </a:p>
          <a:p xmlns:a="http://schemas.openxmlformats.org/drawingml/2006/main">
            <a:pPr>
              <a:defRPr sz="480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80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 Odoo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9FD68-1283-4CC7-9ADF-C16A949D4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38675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commodity trading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67147B-AC11-4D26-8C12-5A050F161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AB29D"/>
                </a:solidFill>
                <a:latin typeface="Arial"/>
                <a:ea typeface="Arial"/>
                <a:cs typeface="Arial"/>
              </a:rPr>
              <a:t>A simple walkthrough for the tech team</a:t>
            </a:r>
          </a:p>
        </p:txBody>
      </p:sp>
    </p:spTree>
    <p:extLst>
      <p:ext uri="{BB962C8B-B14F-4D97-AF65-F5344CB8AC3E}">
        <p14:creationId xmlns:p14="http://schemas.microsoft.com/office/powerpoint/2010/main" val="12899479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02EF7-D881-4B84-85BC-EA0C3998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4C7F4-BB3A-4789-BB83-31797D21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Agenda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220B4-86AC-43D6-8F9A-BBD715DD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CE48C9-30AA-4328-AB08-10FD5872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288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The business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E997F-EE1F-487B-89F1-F10F29E47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771775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What commodity trading means and why one trade spans several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DBC32-3315-48FE-B42C-B46602543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The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022B70-980A-439D-8146-F7DBF1E1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71775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What standard Odoo records show, and what they leave for us to work 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3484B5-4818-4A60-B597-A271E9297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4481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The module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7751D0-B3CC-4551-B8C9-AB42324F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9110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How the Trade record follows the deal and calculates its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EF88E5-EDFD-4442-A875-7AF01490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481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  The 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531CF-B53C-4B2A-BD30-8FC00B8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91100"/>
            <a:ext cx="4762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short path through the Odoo screens and the key numbers.</a:t>
            </a:r>
          </a:p>
        </p:txBody>
      </p:sp>
    </p:spTree>
    <p:extLst>
      <p:ext uri="{BB962C8B-B14F-4D97-AF65-F5344CB8AC3E}">
        <p14:creationId xmlns:p14="http://schemas.microsoft.com/office/powerpoint/2010/main" val="195633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B3E696-245B-4552-A6D2-D9766EA13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FIRST, THE DOMAIN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A3CE2-E11F-421D-818E-E2177337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is commodity trading?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60C9D-2188-4A7E-B2FA-6AB153A6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It is buying and selling physical goods whose prices change in the market.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5B867-28B7-4011-82DE-8BA2D203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D4E5F-04B6-4AA8-954F-452BD4E0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Examples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AA7E6A-665C-48ED-A55C-907F0E89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337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Cocoa, coffee, grain and fuel are commodities.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B42C4A-8BA4-4B36-B2AD-82AC0FC9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90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The deal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D9D13-7B1F-43A0-AE08-B91EB39FC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337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trader buys a quantity, then may sell it in parts over time.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432545-E937-4F84-8438-DB2F83D5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908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The question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FD836-9071-4A44-80E9-D397886D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337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What is still open, and are we making or losing money?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5B1D2-F3A4-4DFC-906F-8C38670C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For this demo, think of one batch of cocoa sold across several orders.</a:t>
            </a:r>
          </a:p>
        </p:txBody>
      </p:sp>
    </p:spTree>
    <p:extLst>
      <p:ext uri="{BB962C8B-B14F-4D97-AF65-F5344CB8AC3E}">
        <p14:creationId xmlns:p14="http://schemas.microsoft.com/office/powerpoint/2010/main" val="14147990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2AB578-00EE-4B57-ADCD-6DC27FD8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SMALL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10460D-C776-4060-A346-5AAC9329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One purchase can become several sales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768695-02F4-475A-9246-43BB9EE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Illustrative example using generic units.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DC60C-FB82-4E1D-86E4-45C771E07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99072-C229-495E-9B8B-167E96B6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4B9A5-00D9-4371-A4E3-67A522D2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units bought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E09F08-3ADA-49D2-B020-AF42E3D4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CB9310-CEA6-4E1F-9E10-96755B52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90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units sold today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C4A51-ACF5-4306-94E7-8ED553261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86075"/>
            <a:ext cx="2857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EB3CA-E8C6-44F3-8EE4-5273F27A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9095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units still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981D7F-9C1F-426D-9245-85D8E59B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0287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60 open units are the position we still need to manage.</a:t>
            </a:r>
          </a:p>
        </p:txBody>
      </p:sp>
    </p:spTree>
    <p:extLst>
      <p:ext uri="{BB962C8B-B14F-4D97-AF65-F5344CB8AC3E}">
        <p14:creationId xmlns:p14="http://schemas.microsoft.com/office/powerpoint/2010/main" val="1997591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65849C-3E0E-457F-A210-44A36F95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A FAIR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DB16D4-D5C2-4450-9043-90BFF61FB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Could an analytic account do this?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61BE9A-360F-4FF8-BAEB-B82116E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Yes, it can group costs and revenue attributed to a trade. That solves part of the problem.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E51332-0113-4928-93A9-98BA9FA9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745EE-971F-4AAA-A226-DA1B2771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Analytic account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DEECAC-8012-4EBA-8BB0-949F1A91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48050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Shows attributed accounting costs and revenue, so we can analyze the financial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163577-FBD3-462E-A864-D21D01D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Trade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1E126-6D34-4CDD-9E5C-9399379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48050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Links confirmed orders and shows what is still open, estimated P&amp;L and physical stock.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6DC5F-9FAA-415A-B2A8-B786D258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382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Trade adds the live position that an analytic account does not calculate for us.</a:t>
            </a:r>
          </a:p>
        </p:txBody>
      </p:sp>
    </p:spTree>
    <p:extLst>
      <p:ext uri="{BB962C8B-B14F-4D97-AF65-F5344CB8AC3E}">
        <p14:creationId xmlns:p14="http://schemas.microsoft.com/office/powerpoint/2010/main" val="16568894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8C6DC-0D66-416D-8669-29A0644A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WHAT I BUILT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976CE-5FDC-488D-AAE2-8999349C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Trade record connects the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73D45C-7C31-490D-9AE3-E1D013FF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team still works in the usual Odoo purchase and sale screens.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2CBD66-4B10-4944-B43E-79E2D6E3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8078C-F561-4448-ABB9-9DB30223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2417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When we 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9B9D3A-863A-4341-B6AD-D9305CA2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confirmed purchase creates or updates the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D1630-927E-4A98-9DD3-74F1400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When we 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EB1D5-3423-4416-9E96-AB012D68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 confirmed sale links to the Trade.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1F5CEF-4EA6-45C8-A617-B19DBE351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24175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Then we see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F84369-30AC-494C-A71B-F757341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The Trade updates quantity, costs and profit.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EC567C-0C07-4EF4-BD27-EA72C312C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One Trade is the place to understand the whole deal.</a:t>
            </a:r>
          </a:p>
        </p:txBody>
      </p:sp>
    </p:spTree>
    <p:extLst>
      <p:ext uri="{BB962C8B-B14F-4D97-AF65-F5344CB8AC3E}">
        <p14:creationId xmlns:p14="http://schemas.microsoft.com/office/powerpoint/2010/main" val="1912056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3D2DC-EA88-4806-8144-DB6580D8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HOW IT FOLLOWS THE DEAL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EDBE4-CDB5-46D2-B498-B582D947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module reacts to work already done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C80E1-F0E0-43AC-B087-4BA554A2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There is no separate trade entry step in the normal flow.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0FE503-F7B1-4959-9218-58B475CF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796C3-26F4-423D-8132-BDFC42DE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Confirm an order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4B45B-0F50-4451-B3FC-15B08350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and sale confirmations change the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6A10B-5F8E-4D32-BDAD-EA9B8145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Post a bill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3494A-689A-49E2-B0D4-6A59CF880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costs, such as freight, change the result.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0E907-173C-4E5E-94FD-B70E92FC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Receive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EDDFC-1D6E-4DD8-AA4E-601F5E05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Validated goods receipts link lots for physical quantity.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D6040A-83C4-4519-BC1D-3E50B699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Trade is derived from the source documents, not typed twice.</a:t>
            </a:r>
          </a:p>
        </p:txBody>
      </p:sp>
    </p:spTree>
    <p:extLst>
      <p:ext uri="{BB962C8B-B14F-4D97-AF65-F5344CB8AC3E}">
        <p14:creationId xmlns:p14="http://schemas.microsoft.com/office/powerpoint/2010/main" val="12266236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86A3E0-EF4D-4BEA-92B1-15A2E557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WHAT THE TRADE SHOWS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DDA15-C6D9-4D06-93AE-E47149AA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Four useful numbers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1E2E7-3400-45E3-87BD-D796CEDE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These are the measures to point at in the live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5A803-0E80-4344-8EF4-940710DD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EE852-E05A-475D-BEA8-94366AD4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Open position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F15654-9BCF-43E9-AB5C-8B3E04B6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9925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How much has been bought but not yet sold.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D9214-0D59-483B-973A-E0AD3E2B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Realized P&amp;L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2D2ED4-B4BC-44CB-9E20-804DE8B2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Profit or loss on the quantity already sold.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89E905-DBB9-48E8-AD9B-5E3E99F8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43425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Unrealized P&amp;L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E2EC84-8725-44D9-91E6-29561213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6350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Estimated profit or loss on the open quantity, using a market price.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45DB8-E2AB-482E-90B1-EB6D332E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43425"/>
            <a:ext cx="4810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On hand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05F4C-117A-492F-A927-34E5E678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86350"/>
            <a:ext cx="48101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How much physical stock is linked to the Trade.</a:t>
            </a:r>
          </a:p>
        </p:txBody>
      </p:sp>
    </p:spTree>
    <p:extLst>
      <p:ext uri="{BB962C8B-B14F-4D97-AF65-F5344CB8AC3E}">
        <p14:creationId xmlns:p14="http://schemas.microsoft.com/office/powerpoint/2010/main" val="14125219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483DD-DFCA-447E-BA5C-138E22FF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NUMBERS, SIMPLY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DD9E3-E254-44C9-9E40-37CBD70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does profit look like here?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B48A62-90CA-4274-AAD1-5A81786A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Illustrative long trade in one currency, with no extra costs.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BA697-69CA-42E4-986D-0CCEF4FD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62B9F-457E-4B94-A81B-DBEDC00D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9D9106-E649-4896-8F44-E8A62DEB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100 units at 10 each. Total purchase cost: 1,000.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CA9A6-2E00-442D-B5EA-B4D298A5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660FA-0A96-4782-BC9E-89F427BE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units at 14 each. Sales value: 560.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2BB1D0-68C5-49A2-8999-844AC3C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09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Already earned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78AA92-C89E-45F7-B183-E85BE925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309562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40 × (14 − 10) = 160 realized profit.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5D53F8-A069-41FE-A856-FA8231E9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625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Open estimate: 60 × (12 market price − 10 cost) = 120 profit.</a:t>
            </a:r>
          </a:p>
        </p:txBody>
      </p:sp>
    </p:spTree>
    <p:extLst>
      <p:ext uri="{BB962C8B-B14F-4D97-AF65-F5344CB8AC3E}">
        <p14:creationId xmlns:p14="http://schemas.microsoft.com/office/powerpoint/2010/main" val="24677610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58587-7290-4984-933F-1AAF3746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OTHER REAL-WORLD DETAILS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15208-1B78-4DFF-BBCB-5BD6769A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A trade is more than two prices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BC2DFB-2C3E-4863-99C8-7706311E1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These details change what a useful result looks like.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B4E15-015D-4459-89B7-29816C1F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0A28F4-1C18-4053-B9D9-8B55B594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Extra costs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7B062-2E9B-43DF-B3A2-5DAD75BF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194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Linked bills can add freight or storage to the trade cost.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8CF0B-5454-4331-A816-0868C35F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Currencies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88D0A8-E25C-41F4-80AD-C386382E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194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Each order converts at the exchange rate from its own date.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7580A-3776-44C3-97C7-ABA0DF96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Physical stock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C745CE-C77F-4962-87D2-2F48E857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194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On-hand quantity comes from linked stock lots, so it can differ from the open position.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C4786-CD1D-41BC-B7ED-804C2C65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goal is a result that reflects the actual deal.</a:t>
            </a:r>
          </a:p>
        </p:txBody>
      </p:sp>
    </p:spTree>
    <p:extLst>
      <p:ext uri="{BB962C8B-B14F-4D97-AF65-F5344CB8AC3E}">
        <p14:creationId xmlns:p14="http://schemas.microsoft.com/office/powerpoint/2010/main" val="202841837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0700AC-37FC-434E-965D-A0511C13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FOR THE TECH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F2FB3-CA1E-408A-8A35-97E24A6D4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How it is wired into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025379-1121-4308-96DF-B34794DD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The core model is trading.trade. Existing Odoo models carry a link to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6D1D2-7895-4223-9C6A-18F49515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03745-E27C-4B5B-8143-9C607CED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Order events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EDF3B-CD81-402C-88B2-3ABCA32C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Purchase and sale confirmation create or link the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75572-5C67-4B2E-A13A-C5726738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Accounting events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B4B112-6B74-40CB-B27E-CF201B444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Posted invoices and bills add cost or revenue. Draft reset reverses them.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32564-39E0-4819-B2DC-1496FC3F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67025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Stock events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C52CF-A54A-4DF4-9822-5FD2726B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09950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Validated receipts link lots to the Trade.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C0B0CB-9145-4889-9CAC-E9867CB3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module extends existing workflows and recomputes stored Trade measures.</a:t>
            </a:r>
          </a:p>
        </p:txBody>
      </p:sp>
    </p:spTree>
    <p:extLst>
      <p:ext uri="{BB962C8B-B14F-4D97-AF65-F5344CB8AC3E}">
        <p14:creationId xmlns:p14="http://schemas.microsoft.com/office/powerpoint/2010/main" val="22202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170D0-CBC0-4767-9573-FD1A9D6B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BEYOND THE CORE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F5A59-A7D6-4F12-A5FA-145D530B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What else is in the module?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D5FF99-3279-4CA2-8382-E0323E1F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I would show these briefly after the main Trade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ABA3B-79E1-46EE-88A0-683B62F4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1EFBB-E158-4E9A-828D-4782B80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ADB89-9457-4459-B933-5543819F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51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Trade list, Kanban, graph and pivot views, with filters.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CF0747-EAB4-4B26-B6F3-1A0437F0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Futures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957D99-9AF8-4514-9DDB-84EBE5BB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051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Contracts under a Trade track agreed quantity, delivery balance and P&amp;L.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70C6E-F2A9-469F-8CFC-4E028D5EF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62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Budgets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1A659-8EE7-400E-A3C7-BE6F524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05175"/>
            <a:ext cx="32385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An optional addon compares planned and actual trade costs and revenue.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42E3D6-815A-447B-AE97-B063122F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The main idea stays the same: one Trade links the pieces.</a:t>
            </a:r>
          </a:p>
        </p:txBody>
      </p:sp>
    </p:spTree>
    <p:extLst>
      <p:ext uri="{BB962C8B-B14F-4D97-AF65-F5344CB8AC3E}">
        <p14:creationId xmlns:p14="http://schemas.microsoft.com/office/powerpoint/2010/main" val="15080935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869814-4BF5-4CC8-BB2E-903C50C7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7A0B2-740B-4474-BA35-8D0118C3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0668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142333"/>
                </a:solidFill>
                <a:latin typeface="Georgia"/>
                <a:ea typeface="Georgia"/>
                <a:cs typeface="Georgia"/>
              </a:defRPr>
            </a:pPr>
            <a:r>
              <a:rPr sz="3600" b="0">
                <a:solidFill>
                  <a:srgbClr val="142333"/>
                </a:solidFill>
                <a:latin typeface="Georgia"/>
                <a:ea typeface="Georgia"/>
                <a:cs typeface="Georgia"/>
              </a:rPr>
              <a:t>The path through Odoo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FA390-C43A-4FA4-9AA1-CBEBA71C2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240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Use one prepared example so the audience can follow the same Trade.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E8341-E0B6-4EE1-B407-F5D3CE63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334125"/>
            <a:ext cx="381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A596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A596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5FFBB-3029-4017-8216-41C25F75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43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1  Buy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8C70C5-D37A-4706-BFB5-FF4A9B60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000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purchase. Open the new Trade.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FF1F16-BC5E-4AF8-B594-1E50B08F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2  Sell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44EAF-360F-4394-9451-D08911CE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86125"/>
            <a:ext cx="3000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Confirm a partial sale. Check what remains.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69884-A450-4E92-A39E-1D6D63A4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3000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425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D425F"/>
                </a:solidFill>
                <a:latin typeface="Arial"/>
                <a:ea typeface="Arial"/>
                <a:cs typeface="Arial"/>
              </a:rPr>
              <a:t>3  Price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BDCB7-2410-4BAF-A040-F5CA38098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86125"/>
            <a:ext cx="3000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33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333"/>
                </a:solidFill>
                <a:latin typeface="Arial"/>
                <a:ea typeface="Arial"/>
                <a:cs typeface="Arial"/>
              </a:rPr>
              <a:t>Enter a market price. Check estimated profit.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DE3F9-F5D4-4559-B5BC-98E2EF18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530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B95A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95A38"/>
                </a:solidFill>
                <a:latin typeface="Arial"/>
                <a:ea typeface="Arial"/>
                <a:cs typeface="Arial"/>
              </a:rPr>
              <a:t>Narrate each change as: document action, Trade update, business meaning.</a:t>
            </a:r>
          </a:p>
        </p:txBody>
      </p:sp>
    </p:spTree>
    <p:extLst>
      <p:ext uri="{BB962C8B-B14F-4D97-AF65-F5344CB8AC3E}">
        <p14:creationId xmlns:p14="http://schemas.microsoft.com/office/powerpoint/2010/main" val="89094805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423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8418F-C35E-4A98-A4E4-962EECCF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"/>
            <a:ext cx="952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THE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82995-8910-43DA-A533-E10D0883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0287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One trade.</a:t>
            </a:r>
          </a:p>
          <a:p xmlns:a="http://schemas.openxmlformats.org/drawingml/2006/main">
            <a:pPr>
              <a:defRPr sz="61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61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whole story.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D0E5F7-145A-4ABE-8748-B97178CA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19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When ordinary Odoo documents were not enough to describe a commodity position, I built the Trade that connects them.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19ABC-BFD2-4E60-B8D3-936238FA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962650"/>
            <a:ext cx="10001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AB2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AB29D"/>
                </a:solidFill>
                <a:latin typeface="Arial"/>
                <a:ea typeface="Arial"/>
                <a:cs typeface="Arial"/>
              </a:rPr>
              <a:t>Now I can show you that story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11153403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2026-09-22T13:25:06.9770000Z</dcterms:created>
  <dcterms:modified xsi:type="dcterms:W3CDTF">2026-09-22T13:25:06.9770000Z</dcterms:modified>
</coreProperties>
</file>