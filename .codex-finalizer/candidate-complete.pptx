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0b4f4a82954b83" /><Relationship Type="http://schemas.openxmlformats.org/officeDocument/2006/relationships/extended-properties" Target="/docProps/app.xml" Id="Rddbcd8f59f214931" /><Relationship Type="http://schemas.openxmlformats.org/officeDocument/2006/relationships/officeDocument" Target="/ppt/presentation.xml" Id="Rb5533d37b4c248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9534abc3964af2"/>
  </p:sldMasterIdLst>
  <p:notesMasterIdLst>
    <p:notesMasterId xmlns:r="http://schemas.openxmlformats.org/officeDocument/2006/relationships" r:id="Rc13e74d3e0254619"/>
  </p:notesMasterIdLst>
  <p:sldIdLst>
    <p:sldId xmlns:r="http://schemas.openxmlformats.org/officeDocument/2006/relationships" id="256" r:id="Rf86a1c4434e74deb"/>
    <p:sldId xmlns:r="http://schemas.openxmlformats.org/officeDocument/2006/relationships" id="257" r:id="R4cc3e1225c36462f"/>
    <p:sldId xmlns:r="http://schemas.openxmlformats.org/officeDocument/2006/relationships" id="258" r:id="Rcbe9e6d88bb54cd7"/>
    <p:sldId xmlns:r="http://schemas.openxmlformats.org/officeDocument/2006/relationships" id="259" r:id="R37d45bf061f6480f"/>
    <p:sldId xmlns:r="http://schemas.openxmlformats.org/officeDocument/2006/relationships" id="260" r:id="R3417d074970d4eef"/>
    <p:sldId xmlns:r="http://schemas.openxmlformats.org/officeDocument/2006/relationships" id="261" r:id="R2edb143ecec440c6"/>
    <p:sldId xmlns:r="http://schemas.openxmlformats.org/officeDocument/2006/relationships" id="262" r:id="R403c99c56dc64a6f"/>
    <p:sldId xmlns:r="http://schemas.openxmlformats.org/officeDocument/2006/relationships" id="263" r:id="R7232c5ec9edd4562"/>
    <p:sldId xmlns:r="http://schemas.openxmlformats.org/officeDocument/2006/relationships" id="264" r:id="R38d9941fc93a4af2"/>
    <p:sldId xmlns:r="http://schemas.openxmlformats.org/officeDocument/2006/relationships" id="265" r:id="Rc8270a2b93664836"/>
    <p:sldId xmlns:r="http://schemas.openxmlformats.org/officeDocument/2006/relationships" id="266" r:id="Rc38411bf2a664669"/>
    <p:sldId xmlns:r="http://schemas.openxmlformats.org/officeDocument/2006/relationships" id="267" r:id="R06149d13f37649d4"/>
    <p:sldId xmlns:r="http://schemas.openxmlformats.org/officeDocument/2006/relationships" id="268" r:id="Rd8dea0a282ee4ad2"/>
    <p:sldId xmlns:r="http://schemas.openxmlformats.org/officeDocument/2006/relationships" id="269" r:id="R16050e6ad91845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b1b1ca3f7147ac" /><Relationship Type="http://schemas.openxmlformats.org/officeDocument/2006/relationships/slideMaster" Target="/ppt/slideMasters/slideMaster1.xml" Id="R869534abc3964af2" /><Relationship Type="http://schemas.openxmlformats.org/officeDocument/2006/relationships/notesMaster" Target="/ppt/notesMasters/notesMaster1.xml" Id="Rc13e74d3e0254619" /><Relationship Type="http://schemas.openxmlformats.org/officeDocument/2006/relationships/presProps" Target="/ppt/presProps.xml" Id="R794e4685a912438c" /><Relationship Type="http://schemas.openxmlformats.org/officeDocument/2006/relationships/tableStyles" Target="/ppt/tableStyles.xml" Id="R868ec208aa584828" /><Relationship Type="http://schemas.openxmlformats.org/officeDocument/2006/relationships/slide" Target="/ppt/slides/slide1.xml" Id="Rf86a1c4434e74deb" /><Relationship Type="http://schemas.openxmlformats.org/officeDocument/2006/relationships/slide" Target="/ppt/slides/slide2.xml" Id="R4cc3e1225c36462f" /><Relationship Type="http://schemas.openxmlformats.org/officeDocument/2006/relationships/slide" Target="/ppt/slides/slide3.xml" Id="Rcbe9e6d88bb54cd7" /><Relationship Type="http://schemas.openxmlformats.org/officeDocument/2006/relationships/slide" Target="/ppt/slides/slide4.xml" Id="R37d45bf061f6480f" /><Relationship Type="http://schemas.openxmlformats.org/officeDocument/2006/relationships/slide" Target="/ppt/slides/slide5.xml" Id="R3417d074970d4eef" /><Relationship Type="http://schemas.openxmlformats.org/officeDocument/2006/relationships/slide" Target="/ppt/slides/slide6.xml" Id="R2edb143ecec440c6" /><Relationship Type="http://schemas.openxmlformats.org/officeDocument/2006/relationships/slide" Target="/ppt/slides/slide7.xml" Id="R403c99c56dc64a6f" /><Relationship Type="http://schemas.openxmlformats.org/officeDocument/2006/relationships/slide" Target="/ppt/slides/slide8.xml" Id="R7232c5ec9edd4562" /><Relationship Type="http://schemas.openxmlformats.org/officeDocument/2006/relationships/slide" Target="/ppt/slides/slide9.xml" Id="R38d9941fc93a4af2" /><Relationship Type="http://schemas.openxmlformats.org/officeDocument/2006/relationships/slide" Target="/ppt/slides/slide10.xml" Id="Rc8270a2b93664836" /><Relationship Type="http://schemas.openxmlformats.org/officeDocument/2006/relationships/slide" Target="/ppt/slides/slide11.xml" Id="Rc38411bf2a664669" /><Relationship Type="http://schemas.openxmlformats.org/officeDocument/2006/relationships/slide" Target="/ppt/slides/slide12.xml" Id="R06149d13f37649d4" /><Relationship Type="http://schemas.openxmlformats.org/officeDocument/2006/relationships/slide" Target="/ppt/slides/slide13.xml" Id="Rd8dea0a282ee4ad2" /><Relationship Type="http://schemas.openxmlformats.org/officeDocument/2006/relationships/slide" Target="/ppt/slides/slide14.xml" Id="R16050e6ad91845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e8d542e258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a6c903f1f8439d" /><Relationship Type="http://schemas.openxmlformats.org/officeDocument/2006/relationships/notesMaster" Target="/ppt/notesMasters/notesMaster1.xml" Id="Rb1fb1158276b42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df872f27cb45ff" /><Relationship Type="http://schemas.openxmlformats.org/officeDocument/2006/relationships/notesMaster" Target="/ppt/notesMasters/notesMaster1.xml" Id="Rcf665363bae642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cc1e54fdac4a6f" /><Relationship Type="http://schemas.openxmlformats.org/officeDocument/2006/relationships/notesMaster" Target="/ppt/notesMasters/notesMaster1.xml" Id="Rbdcd73f90fc046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16f925e58d4473" /><Relationship Type="http://schemas.openxmlformats.org/officeDocument/2006/relationships/notesMaster" Target="/ppt/notesMasters/notesMaster1.xml" Id="R00432df2ba274e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be18b8763f4eb5" /><Relationship Type="http://schemas.openxmlformats.org/officeDocument/2006/relationships/notesMaster" Target="/ppt/notesMasters/notesMaster1.xml" Id="R441b220c91904b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35857d78e8423f" /><Relationship Type="http://schemas.openxmlformats.org/officeDocument/2006/relationships/notesMaster" Target="/ppt/notesMasters/notesMaster1.xml" Id="Ra624c55331314c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d7b041b7804b06" /><Relationship Type="http://schemas.openxmlformats.org/officeDocument/2006/relationships/notesMaster" Target="/ppt/notesMasters/notesMaster1.xml" Id="Rf26b4e4c11a247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5f73f6f6b64fc4" /><Relationship Type="http://schemas.openxmlformats.org/officeDocument/2006/relationships/notesMaster" Target="/ppt/notesMasters/notesMaster1.xml" Id="Rf9e0470e59e446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ecd591be1f4c2d" /><Relationship Type="http://schemas.openxmlformats.org/officeDocument/2006/relationships/notesMaster" Target="/ppt/notesMasters/notesMaster1.xml" Id="R69f047721a9e43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f5b850e08a4c89" /><Relationship Type="http://schemas.openxmlformats.org/officeDocument/2006/relationships/notesMaster" Target="/ppt/notesMasters/notesMaster1.xml" Id="Rff1bde966f9b47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dc33c2d14847d5" /><Relationship Type="http://schemas.openxmlformats.org/officeDocument/2006/relationships/notesMaster" Target="/ppt/notesMasters/notesMaster1.xml" Id="R2689e32b7aa645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8b6a4d30d84e0a" /><Relationship Type="http://schemas.openxmlformats.org/officeDocument/2006/relationships/notesMaster" Target="/ppt/notesMasters/notesMaster1.xml" Id="R9b4931bcb1644a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e22d63808146b8" /><Relationship Type="http://schemas.openxmlformats.org/officeDocument/2006/relationships/notesMaster" Target="/ppt/notesMasters/notesMaster1.xml" Id="Rf0a870e15c214d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30700f9a2544fd" /><Relationship Type="http://schemas.openxmlformats.org/officeDocument/2006/relationships/notesMaster" Target="/ppt/notesMasters/notesMaster1.xml" Id="Rc84691f8b02345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Deck facts come from the module documentation and implementation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domain explanation. “Position” is the quantity still exposed after purchase and sale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1 and 2. Odoo analytic accounting: https://www.odoo.com/documentation/19.0/applications/finance/accounting/reporting/analytic_accounting.html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1, 3 and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4 to 6. Long close requires matched purchase and sale quantities. A short without a purchase leg uses its separate fully-sold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5 and 6. Market price is entered by a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arithmetic only. Formula basis: ele_trading README, section 6. Assumes no additional cost or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4, 6 and 7. A narrow direct-vendor-bill reversal gap remains and is disclosed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 9. This difference is intentional.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8 and 10. Budget source: product/commodity_trading/ele_trading_budget/README.md. Product-status clarification from the presenter: futures is pipeline work and must not be demonstrated as a current capability.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references: models/purchase_order.py, sale_order.py, account_move_lifecycle.py, stock_picking.py and trading_trade_pnl.py.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cue. Prepare all master data and draft documents before the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d9d3803f84f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5cc44d26664d98" /><Relationship Type="http://schemas.openxmlformats.org/officeDocument/2006/relationships/slideLayout" Target="/ppt/slideLayouts/slideLayout1.xml" Id="R5dc52e65834c46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c52e65834c46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5d6a79e9245e0" /><Relationship Type="http://schemas.openxmlformats.org/officeDocument/2006/relationships/notesSlide" Target="/ppt/notesSlides/notesSlide1.xml" Id="R3b70a5db64b14f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1eda3e6114a26" /><Relationship Type="http://schemas.openxmlformats.org/officeDocument/2006/relationships/notesSlide" Target="/ppt/notesSlides/notesSlide2.xml" Id="R153f8deb40fc4d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e7a498ab9407b" /><Relationship Type="http://schemas.openxmlformats.org/officeDocument/2006/relationships/notesSlide" Target="/ppt/notesSlides/notesSlide3.xml" Id="R2479840ed6c643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ef102347a43ba" /><Relationship Type="http://schemas.openxmlformats.org/officeDocument/2006/relationships/notesSlide" Target="/ppt/notesSlides/notesSlide4.xml" Id="Ree0cac92db204a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7177bb2b7406b" /><Relationship Type="http://schemas.openxmlformats.org/officeDocument/2006/relationships/notesSlide" Target="/ppt/notesSlides/notesSlide5.xml" Id="Rfb225bc99eee4a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7bda93809498e" /><Relationship Type="http://schemas.openxmlformats.org/officeDocument/2006/relationships/notesSlide" Target="/ppt/notesSlides/notesSlide6.xml" Id="R0e41efb6dfcb42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5b2f7a84a41e7" /><Relationship Type="http://schemas.openxmlformats.org/officeDocument/2006/relationships/notesSlide" Target="/ppt/notesSlides/notesSlide7.xml" Id="Rb88735bf34c146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3ee5a27f34255" /><Relationship Type="http://schemas.openxmlformats.org/officeDocument/2006/relationships/notesSlide" Target="/ppt/notesSlides/notesSlide8.xml" Id="R19a8bf0b40c849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1743b61e647fb" /><Relationship Type="http://schemas.openxmlformats.org/officeDocument/2006/relationships/notesSlide" Target="/ppt/notesSlides/notesSlide9.xml" Id="Rbd1aeb2a47d647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d8281c3424b9d" /><Relationship Type="http://schemas.openxmlformats.org/officeDocument/2006/relationships/notesSlide" Target="/ppt/notesSlides/notesSlide10.xml" Id="Rdb0fe569301542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fceaa72b44b73" /><Relationship Type="http://schemas.openxmlformats.org/officeDocument/2006/relationships/notesSlide" Target="/ppt/notesSlides/notesSlide11.xml" Id="R7f2d6151728f4a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5baedf26c4a8b" /><Relationship Type="http://schemas.openxmlformats.org/officeDocument/2006/relationships/notesSlide" Target="/ppt/notesSlides/notesSlide12.xml" Id="R8fef769eb33145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f71aecfff47ae" /><Relationship Type="http://schemas.openxmlformats.org/officeDocument/2006/relationships/notesSlide" Target="/ppt/notesSlides/notesSlide13.xml" Id="Ref909ebb3b3e4e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ef7fb1af641c8" /><Relationship Type="http://schemas.openxmlformats.org/officeDocument/2006/relationships/notesSlide" Target="/ppt/notesSlides/notesSlide14.xml" Id="Rff2968db8be747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BB11E-FCBB-4217-AE08-E3B56335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AB29D"/>
                </a:solidFill>
                <a:latin typeface="Arial"/>
                <a:ea typeface="Arial"/>
                <a:cs typeface="Arial"/>
              </a:rPr>
              <a:t>AN ODOO PRODUCT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FDCCA-03A3-4198-9638-2BD10236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When the Standard Way</a:t>
            </a:r>
          </a:p>
          <a:p xmlns:a="http://schemas.openxmlformats.org/drawingml/2006/main">
            <a:pPr>
              <a:defRPr sz="48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Isn't Enough:</a:t>
            </a:r>
          </a:p>
          <a:p xmlns:a="http://schemas.openxmlformats.org/drawingml/2006/main">
            <a:pPr>
              <a:defRPr sz="48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 Odoo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BF248-D8ED-4943-922B-09DAB5FB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386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commodity trading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6F6C9-2CC9-4884-9FFC-FB95A883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17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AB29D"/>
                </a:solidFill>
                <a:latin typeface="Arial"/>
                <a:ea typeface="Arial"/>
                <a:cs typeface="Arial"/>
              </a:rPr>
              <a:t>A complete walkthrough for a mixed audience</a:t>
            </a:r>
          </a:p>
        </p:txBody>
      </p:sp>
    </p:spTree>
    <p:extLst>
      <p:ext uri="{BB962C8B-B14F-4D97-AF65-F5344CB8AC3E}">
        <p14:creationId xmlns:p14="http://schemas.microsoft.com/office/powerpoint/2010/main" val="671018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F9FBB-3078-413F-9664-80010BF9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3E3C5-01F0-4609-9106-9BE267DF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Agenda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8D51D-8A54-4425-A9C1-0F6519D3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6ADE0-5E4E-41CA-931B-BF75ED79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1  The domain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40B25-DCAA-4873-AFA5-7D0AB238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Commodity trading and the question the business needs answered.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57AA7-65E3-4062-AED6-DBA28FFC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2  The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03C0D-9E91-401A-95AA-974AAB2A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Trade record, its lifecycle and its calculations.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D5709-710B-4D49-A37E-2EBC42B8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386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3  The wider module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4364C-15AE-410E-B219-676AA479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Accounting, stock, contracts, budgets and reporting.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98316-2F3E-48EE-9828-8943994D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4  The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DD48E-07B6-4F75-BB96-BBEFD38B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62525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 short live path, followed by engineering limits.</a:t>
            </a:r>
          </a:p>
        </p:txBody>
      </p:sp>
    </p:spTree>
    <p:extLst>
      <p:ext uri="{BB962C8B-B14F-4D97-AF65-F5344CB8AC3E}">
        <p14:creationId xmlns:p14="http://schemas.microsoft.com/office/powerpoint/2010/main" val="4352601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DD40D-97A8-418C-BD62-C52B226A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DOMAIN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43EFC-8DC3-4B49-A36A-5A02BA16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Commodity trading in plain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B406A-35E8-4A99-9518-6C9474F0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A business buys and sells goods such as cocoa, coffee, grain or fuel while market prices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C4EBD-8F02-43C9-8587-9E7A6205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0D1E6-8311-42ED-BD52-73B87717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One deal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ED639-9A41-43E2-9A7F-089B848B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 batch may be bought once and sold through several orders over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15230-55D1-4B96-B926-52EABE45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One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0D2AC-48D6-4C2D-9997-3BEF98F5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1947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unsold or uncovered quantity remains exposed to price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58BF8-F774-4FE9-BB27-D480BEB6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One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DE0CA-2A60-4A03-BCC9-587D6C91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1947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business needs profit or loss for the sold part and the open part.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B7A5E-1D85-4AAE-BD73-AE39B356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Example: buy 100 units, sell 40, manage the remaining 60.</a:t>
            </a:r>
          </a:p>
        </p:txBody>
      </p:sp>
    </p:spTree>
    <p:extLst>
      <p:ext uri="{BB962C8B-B14F-4D97-AF65-F5344CB8AC3E}">
        <p14:creationId xmlns:p14="http://schemas.microsoft.com/office/powerpoint/2010/main" val="5259994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65562-2319-4CF9-BE5F-C24AC097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9CEDC-9BAB-4862-8445-A0E04668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What standard Odoo already provides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5F170-D06B-477A-BF6A-FD4E6EAB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case for this module depends on being precise about the starting 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E0CD9-3AC1-4541-B588-3E4E2A97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F7639-3580-489E-99BF-B06A4726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Orders and stock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1FC60-60F2-4DD5-AA6F-3D695405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Purchase, Sales and Inventory record transactions and physical movement.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40158-648D-4884-BDCD-DBF0C713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98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Analytic accounts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9E75C-E61D-4B0F-90B9-7D408E97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They group attributed accounting costs and revenue for profitability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B941D-86B5-4139-BF87-04310BD4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98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The missing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379B6-1824-4261-804E-CC0B0CBA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Neither produces this module’s live, trade-specific position from linked orders.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DF3B9-5FEB-4105-9F97-F2941C05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gap is position management across documents, not a lack of accounting reports.</a:t>
            </a:r>
          </a:p>
        </p:txBody>
      </p:sp>
    </p:spTree>
    <p:extLst>
      <p:ext uri="{BB962C8B-B14F-4D97-AF65-F5344CB8AC3E}">
        <p14:creationId xmlns:p14="http://schemas.microsoft.com/office/powerpoint/2010/main" val="20752325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66CEC-C3F6-47A6-9CF8-FCE1B2B5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28269-D7F5-491E-A29C-425AE7F1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The Trade is the connecting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76645-E1EA-4D15-A479-F3BB56AA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Users continue to confirm normal Odoo documents. The module builds and updates the Trade from those events.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60EBA-2D5C-422B-B88D-8E9EB5A3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B5796-FB30-4698-B451-227A65FB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B7384-3517-4D2E-995E-B2C67392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Purchase confirmation creates or updates a long Trade. Sale confirmation links a Trade or creates a short Trade.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E2CEB-6B4A-4648-9704-0D9544B8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Accounting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6DD8F-02A7-43E5-8340-B48C6CB9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Invoices and bills connect to the Trade and affect additional cost or revenue.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B4247-85FD-42BC-B002-1E2DF139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051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520F9-4869-426F-9DD1-B4D7F96C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Validated receipts connect stock lots to the Trade.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1E7D8-526C-4B16-BB08-9005FA74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No second manual entry is required in the normal flow.</a:t>
            </a:r>
          </a:p>
        </p:txBody>
      </p:sp>
    </p:spTree>
    <p:extLst>
      <p:ext uri="{BB962C8B-B14F-4D97-AF65-F5344CB8AC3E}">
        <p14:creationId xmlns:p14="http://schemas.microsoft.com/office/powerpoint/2010/main" val="823359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4DD76-6BB5-4756-8C45-969B2377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TRADE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A865F-EDDD-416E-B705-D4A616E0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Long and short positions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A9127-28D1-475E-94A2-D276DDA8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opening document determines the direction of the position.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11908-D347-4897-A03E-1F27CDA4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66B20-2E8C-408A-826C-2CEB3CD7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Long trade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83AB2-E790-43F8-A11F-8E67AA2A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Buy first. Open quantity is purchase quantity less confirmed sold quantity.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20F34-1044-4085-913D-CAFB3D1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Short trade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B5C37-59D6-4BD4-A667-88230E35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Sell first when no matching open Trade exists. The open quantity is negative until covered.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35D06-2B4A-4E39-B20D-2B694A26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A confirmed Trade closes automatically when its matching rule is satisfied.</a:t>
            </a:r>
          </a:p>
        </p:txBody>
      </p:sp>
    </p:spTree>
    <p:extLst>
      <p:ext uri="{BB962C8B-B14F-4D97-AF65-F5344CB8AC3E}">
        <p14:creationId xmlns:p14="http://schemas.microsoft.com/office/powerpoint/2010/main" val="13057071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F41E8-9F6E-4578-8676-CE9B3CE4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CORE CALCULATIONS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AA0A3-E152-4C1C-8682-11F2C83B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The numbers on a Trade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F5273-6DEE-44A7-8E87-6226FE31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Each measure answers a different business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00D44-8FF1-42B1-ADFD-C5F9F112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F07B8-B9C0-4F6E-9A6C-600B80A5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Open 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1C1C2-0677-42F8-9A21-EF337E5E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How much commercial exposure remains.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411F6-59F0-4410-B0DC-F8056D86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Realized P&amp;L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D5489-A94F-4077-A0FF-C4167EB2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Profit or loss on the matched quantity already bought and sold.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E41EC-7785-4128-9E7C-71AE496A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Unrealized P&amp;L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FB8D2-0D3C-47B7-A858-92819642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57775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Estimated result on the open quantity using a market price.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05661-94EF-43D4-B4F7-558882C7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Total P&amp;L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140E0-4DA1-4944-857D-75D54687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57775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Realized plus unrealized P&amp;L, plus additional revenue.</a:t>
            </a:r>
          </a:p>
        </p:txBody>
      </p:sp>
    </p:spTree>
    <p:extLst>
      <p:ext uri="{BB962C8B-B14F-4D97-AF65-F5344CB8AC3E}">
        <p14:creationId xmlns:p14="http://schemas.microsoft.com/office/powerpoint/2010/main" val="20318101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D6D29-7CD9-4363-B93D-A9A95B55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79B35-7955-4ABF-88D5-47D4D96C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A partial long trade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281A0-A49D-4305-AD4D-10937720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Illustrative example in one reporting currency, with no extra costs.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F3B4A-3474-417C-A573-E43FC8F6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E96B6-A906-4F35-B50F-165386E8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Buy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41819-1452-4C7E-B1EB-C9B7ECDE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100 units × 10 = 1,000 purchase cost.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9B30A-9D7C-4111-9085-80C2468A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Sell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E53A7-43BA-4A8E-9599-022E38D6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242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40 units × 14 = 560 sales value.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85B32-8473-4775-9059-FB7975A3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Realized profit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7E9A8-882C-4193-AF62-7884597D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242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40 × (14 − 10) = 160.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71167-58E4-404B-A73B-0FCA9B60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At a market price of 12, open profit is 60 × (12 − 10) = 120. Total P&amp;L is 280.</a:t>
            </a:r>
          </a:p>
        </p:txBody>
      </p:sp>
    </p:spTree>
    <p:extLst>
      <p:ext uri="{BB962C8B-B14F-4D97-AF65-F5344CB8AC3E}">
        <p14:creationId xmlns:p14="http://schemas.microsoft.com/office/powerpoint/2010/main" val="11649543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53A47-94ED-436B-9E96-E3B643F4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FINANCIAL 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D37DD-4773-4B72-A2FA-6E1D7C41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Currency and invoice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4FFEB-8590-4D30-B463-6014F231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module keeps financial changes tied to the documents that caused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82888-A69D-48F9-B7BA-D3B41147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A3331-5FA2-4BFB-BE00-3C76E3FA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Transaction-date FX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0F28A-8610-4909-A744-A3546F39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Each transaction converts at the rate from its own date. Mixed-currency sales blend in the reporting currency.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CDEC4-F6EF-447D-9E95-B6F3AE13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47975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Additional amounts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31262-9FA3-45CA-B145-3DCA70EB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Linked bills and invoices add cost or revenue beyond the original order values.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AF821-D964-495D-8865-96AD5246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Resetting or unlinking a linked invoice reverses its recorded contribution.</a:t>
            </a:r>
          </a:p>
        </p:txBody>
      </p:sp>
    </p:spTree>
    <p:extLst>
      <p:ext uri="{BB962C8B-B14F-4D97-AF65-F5344CB8AC3E}">
        <p14:creationId xmlns:p14="http://schemas.microsoft.com/office/powerpoint/2010/main" val="8894948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9DA4D-E19E-4D50-9579-A02EECF2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9B5AC-FC89-4774-A6B0-863D6D70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Commercial position and physical stock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5E833-D504-447D-B1B3-68B95BD5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module deliberately keeps two quantities because they describe different states.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3D2C8-226F-4566-AD13-1BDC4E2E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0CC30-EF02-4A3C-BE47-2053AD1D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Open 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E35BE-F66D-405F-83D6-CC256F0A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Calculated from confirmed purchase and sale quantities.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AF3E4-9EB7-424F-8738-9EB2800E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On hand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2C6A4-4631-40C6-8181-892593F1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38525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Calculated from stock lots linked through validated receipts.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ABC3A-BD12-4F3E-9878-C0C345C6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They can differ while goods are awaiting receipt or delivery.</a:t>
            </a:r>
          </a:p>
        </p:txBody>
      </p:sp>
    </p:spTree>
    <p:extLst>
      <p:ext uri="{BB962C8B-B14F-4D97-AF65-F5344CB8AC3E}">
        <p14:creationId xmlns:p14="http://schemas.microsoft.com/office/powerpoint/2010/main" val="21067092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D2F7E-4616-45A4-8CC2-58FFF88F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ADDITIONAL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4D14D-819F-40DC-B0A6-A8255BE6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Budgets, reporting and the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736D7-B0D9-4CF7-A528-FFD30385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current module can be extended without changing the role of the central Trade.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38316-384D-4A7C-A451-06AB0A5D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20DD1-8EED-438C-B7C3-23BA6FD5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Optional budgets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10547-A8CA-492A-945D-F914BBA1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0517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Planned versus actual cost and revenue, synced from bills, invoices and expenses.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89D51-CE13-470F-8C0F-E448F34C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BBB5C-A8FB-43E0-8A59-2675C229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List, Kanban, graph and pivot views with trade, status and profitability filters.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8F130-6250-4A7B-8479-3CBC04D6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Futures roadmap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7DAE8-B2B6-46F6-A6E4-70AE0605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0517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Contract terms, delivery balances and contract P&amp;L are planned, but are not currently available.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52738-83C7-404A-BA32-CFB50F26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Budget variance appears after the Trade is fully matched.</a:t>
            </a:r>
          </a:p>
        </p:txBody>
      </p:sp>
    </p:spTree>
    <p:extLst>
      <p:ext uri="{BB962C8B-B14F-4D97-AF65-F5344CB8AC3E}">
        <p14:creationId xmlns:p14="http://schemas.microsoft.com/office/powerpoint/2010/main" val="4618743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1E302-0D0A-48B6-8029-B86156E9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FOR THE TECH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7F1AA-069C-457F-872E-772148A6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How it is wired into Odoo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07CC7-03E6-4E9F-947F-6D991B67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core model is trading.trade; existing Odoo models gain a Trade link and lifecycle hooks.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66696-F4E4-4536-89AF-6157E22D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659BA-5DC0-4532-B890-566DD977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Order hooks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C1A75-7DB1-42B5-9B23-3BE92416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purchase.order.button_confirm and sale.order.action_confirm create or link Trades.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6D1BB-332F-4CB5-9268-71A8F574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98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Accounting hooks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A2ECA-4414-4A9C-B848-AAABD5A6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account.move posting, draft reset and unlink manage financial contributions.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01A8C-A225-4047-B75C-9E621C3F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98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Stock hook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9CE99-169E-4809-BF9C-3180B7E0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stock.picking validation links lots and updates physical quantity.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2FB43-A5CA-4FBD-81A0-B6512844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Stored computed fields make position and P&amp;L available in views and reports.</a:t>
            </a:r>
          </a:p>
        </p:txBody>
      </p:sp>
    </p:spTree>
    <p:extLst>
      <p:ext uri="{BB962C8B-B14F-4D97-AF65-F5344CB8AC3E}">
        <p14:creationId xmlns:p14="http://schemas.microsoft.com/office/powerpoint/2010/main" val="16494530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EAE7C-7A64-4134-9133-6B84E85D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D8D3B-C285-4818-BF08-547E2EBE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A seven-minute path through Odoo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D4853-4CB7-4817-A9F2-17911F47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Use one prepared product and keep returning to the same Trade.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9BD93-2A3E-4D7F-AD09-5EF6ABDA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86F22-A9B8-4FAF-A176-2ECA19E5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1  Open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97D96-FF0D-440C-97FD-BA08B367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Confirm a purchase and open the generated Trade.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31A4A-CA08-4E96-ADAF-B7CFA713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2 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A2648-2AB8-4BB8-886C-5A59E66C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861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Confirm a partial sale, add a market price and post a linked bill.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F6A3C-C7E9-4AA3-8452-9CA423C8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3  Inspect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E2256-233D-43CD-B10B-AB05C509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861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Explain the four measures, linked documents and reporting views.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0C8BD-3474-4E6D-B983-C9689681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Narrate each step as action, system update and business meaning.</a:t>
            </a:r>
          </a:p>
        </p:txBody>
      </p:sp>
    </p:spTree>
    <p:extLst>
      <p:ext uri="{BB962C8B-B14F-4D97-AF65-F5344CB8AC3E}">
        <p14:creationId xmlns:p14="http://schemas.microsoft.com/office/powerpoint/2010/main" val="11112244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94B4B-7340-4820-A80B-01A5A179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AB29D"/>
                </a:solidFill>
                <a:latin typeface="Arial"/>
                <a:ea typeface="Arial"/>
                <a:cs typeface="Arial"/>
              </a:rPr>
              <a:t>THE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F3C0B-FEF0-4B49-8572-42F4991D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One trade.</a:t>
            </a:r>
          </a:p>
          <a:p xmlns:a="http://schemas.openxmlformats.org/drawingml/2006/main">
            <a:pPr>
              <a:defRPr sz="6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whole 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D7445-8EA9-4F20-B9D4-1D5CA785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09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module connects orders, accounting and stock into a live commodity position with one financial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E3EF6-00D8-4C89-A015-3A8B27AC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817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AB29D"/>
                </a:solidFill>
                <a:latin typeface="Arial"/>
                <a:ea typeface="Arial"/>
                <a:cs typeface="Arial"/>
              </a:rPr>
              <a:t>That is what the standard document flow did not provide.</a:t>
            </a:r>
          </a:p>
        </p:txBody>
      </p:sp>
    </p:spTree>
    <p:extLst>
      <p:ext uri="{BB962C8B-B14F-4D97-AF65-F5344CB8AC3E}">
        <p14:creationId xmlns:p14="http://schemas.microsoft.com/office/powerpoint/2010/main" val="210315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2026-09-23T08:53:50.1860000Z</dcterms:created>
  <dcterms:modified xsi:type="dcterms:W3CDTF">2026-09-23T08:53:50.1860000Z</dcterms:modified>
</coreProperties>
</file>