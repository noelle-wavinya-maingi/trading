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a59cbbd13409f" /><Relationship Type="http://schemas.openxmlformats.org/officeDocument/2006/relationships/extended-properties" Target="/docProps/app.xml" Id="Rc9cd4d31a30b4aaa" /><Relationship Type="http://schemas.openxmlformats.org/officeDocument/2006/relationships/officeDocument" Target="/ppt/presentation.xml" Id="R5c197ee64a2b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bc04d4d050429a"/>
  </p:sldMasterIdLst>
  <p:notesMasterIdLst>
    <p:notesMasterId xmlns:r="http://schemas.openxmlformats.org/officeDocument/2006/relationships" r:id="R9d536e9b86ea4f89"/>
  </p:notesMasterIdLst>
  <p:sldIdLst>
    <p:sldId xmlns:r="http://schemas.openxmlformats.org/officeDocument/2006/relationships" id="256" r:id="Rdcf94ef40c324a9a"/>
    <p:sldId xmlns:r="http://schemas.openxmlformats.org/officeDocument/2006/relationships" id="257" r:id="R5f0f51403f024ab4"/>
    <p:sldId xmlns:r="http://schemas.openxmlformats.org/officeDocument/2006/relationships" id="258" r:id="R009d5dfa841f4bc6"/>
    <p:sldId xmlns:r="http://schemas.openxmlformats.org/officeDocument/2006/relationships" id="259" r:id="R8113cfafb42b4ea4"/>
    <p:sldId xmlns:r="http://schemas.openxmlformats.org/officeDocument/2006/relationships" id="260" r:id="R14df7e9a2d404eea"/>
    <p:sldId xmlns:r="http://schemas.openxmlformats.org/officeDocument/2006/relationships" id="261" r:id="Re1d53c959ff84dda"/>
    <p:sldId xmlns:r="http://schemas.openxmlformats.org/officeDocument/2006/relationships" id="262" r:id="R0aaf8cd084d14a03"/>
    <p:sldId xmlns:r="http://schemas.openxmlformats.org/officeDocument/2006/relationships" id="263" r:id="Rcf61a748c9e94e99"/>
    <p:sldId xmlns:r="http://schemas.openxmlformats.org/officeDocument/2006/relationships" id="264" r:id="Rab953bfbff7f4891"/>
    <p:sldId xmlns:r="http://schemas.openxmlformats.org/officeDocument/2006/relationships" id="265" r:id="Ra4db8294785e46c0"/>
    <p:sldId xmlns:r="http://schemas.openxmlformats.org/officeDocument/2006/relationships" id="266" r:id="R048ec030bec64a12"/>
    <p:sldId xmlns:r="http://schemas.openxmlformats.org/officeDocument/2006/relationships" id="267" r:id="R226fe1b04b1746a7"/>
    <p:sldId xmlns:r="http://schemas.openxmlformats.org/officeDocument/2006/relationships" id="268" r:id="R41af3dcbf29b4ab5"/>
    <p:sldId xmlns:r="http://schemas.openxmlformats.org/officeDocument/2006/relationships" id="269" r:id="Rcfbe550c9a904192"/>
    <p:sldId xmlns:r="http://schemas.openxmlformats.org/officeDocument/2006/relationships" id="270" r:id="R7bcfaaf7fde64198"/>
    <p:sldId xmlns:r="http://schemas.openxmlformats.org/officeDocument/2006/relationships" id="271" r:id="Rfe3c8e45a400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526bf000b54822" /><Relationship Type="http://schemas.openxmlformats.org/officeDocument/2006/relationships/slideMaster" Target="/ppt/slideMasters/slideMaster1.xml" Id="R04bc04d4d050429a" /><Relationship Type="http://schemas.openxmlformats.org/officeDocument/2006/relationships/notesMaster" Target="/ppt/notesMasters/notesMaster1.xml" Id="R9d536e9b86ea4f89" /><Relationship Type="http://schemas.openxmlformats.org/officeDocument/2006/relationships/presProps" Target="/ppt/presProps.xml" Id="Ra8226ba390324b39" /><Relationship Type="http://schemas.openxmlformats.org/officeDocument/2006/relationships/tableStyles" Target="/ppt/tableStyles.xml" Id="R0a78ba4c24c14753" /><Relationship Type="http://schemas.openxmlformats.org/officeDocument/2006/relationships/slide" Target="/ppt/slides/slide1.xml" Id="Rdcf94ef40c324a9a" /><Relationship Type="http://schemas.openxmlformats.org/officeDocument/2006/relationships/slide" Target="/ppt/slides/slide2.xml" Id="R5f0f51403f024ab4" /><Relationship Type="http://schemas.openxmlformats.org/officeDocument/2006/relationships/slide" Target="/ppt/slides/slide3.xml" Id="R009d5dfa841f4bc6" /><Relationship Type="http://schemas.openxmlformats.org/officeDocument/2006/relationships/slide" Target="/ppt/slides/slide4.xml" Id="R8113cfafb42b4ea4" /><Relationship Type="http://schemas.openxmlformats.org/officeDocument/2006/relationships/slide" Target="/ppt/slides/slide5.xml" Id="R14df7e9a2d404eea" /><Relationship Type="http://schemas.openxmlformats.org/officeDocument/2006/relationships/slide" Target="/ppt/slides/slide6.xml" Id="Re1d53c959ff84dda" /><Relationship Type="http://schemas.openxmlformats.org/officeDocument/2006/relationships/slide" Target="/ppt/slides/slide7.xml" Id="R0aaf8cd084d14a03" /><Relationship Type="http://schemas.openxmlformats.org/officeDocument/2006/relationships/slide" Target="/ppt/slides/slide8.xml" Id="Rcf61a748c9e94e99" /><Relationship Type="http://schemas.openxmlformats.org/officeDocument/2006/relationships/slide" Target="/ppt/slides/slide9.xml" Id="Rab953bfbff7f4891" /><Relationship Type="http://schemas.openxmlformats.org/officeDocument/2006/relationships/slide" Target="/ppt/slides/slide10.xml" Id="Ra4db8294785e46c0" /><Relationship Type="http://schemas.openxmlformats.org/officeDocument/2006/relationships/slide" Target="/ppt/slides/slide11.xml" Id="R048ec030bec64a12" /><Relationship Type="http://schemas.openxmlformats.org/officeDocument/2006/relationships/slide" Target="/ppt/slides/slide12.xml" Id="R226fe1b04b1746a7" /><Relationship Type="http://schemas.openxmlformats.org/officeDocument/2006/relationships/slide" Target="/ppt/slides/slide13.xml" Id="R41af3dcbf29b4ab5" /><Relationship Type="http://schemas.openxmlformats.org/officeDocument/2006/relationships/slide" Target="/ppt/slides/slide14.xml" Id="Rcfbe550c9a904192" /><Relationship Type="http://schemas.openxmlformats.org/officeDocument/2006/relationships/slide" Target="/ppt/slides/slide15.xml" Id="R7bcfaaf7fde64198" /><Relationship Type="http://schemas.openxmlformats.org/officeDocument/2006/relationships/slide" Target="/ppt/slides/slide16.xml" Id="Rfe3c8e45a400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69a265d30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8dec94e1ee4baf" /><Relationship Type="http://schemas.openxmlformats.org/officeDocument/2006/relationships/notesMaster" Target="/ppt/notesMasters/notesMaster1.xml" Id="Rfe3ecc05a7a0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f1f9c8dee4721" /><Relationship Type="http://schemas.openxmlformats.org/officeDocument/2006/relationships/notesMaster" Target="/ppt/notesMasters/notesMaster1.xml" Id="Rc602cdb01157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a475786ae4bac" /><Relationship Type="http://schemas.openxmlformats.org/officeDocument/2006/relationships/notesMaster" Target="/ppt/notesMasters/notesMaster1.xml" Id="Rc1321f347cce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5ea8ddd9c4f8a" /><Relationship Type="http://schemas.openxmlformats.org/officeDocument/2006/relationships/notesMaster" Target="/ppt/notesMasters/notesMaster1.xml" Id="R4e097e9a43af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317939cb5b43ef" /><Relationship Type="http://schemas.openxmlformats.org/officeDocument/2006/relationships/notesMaster" Target="/ppt/notesMasters/notesMaster1.xml" Id="R28783fcc82d347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dddac6b764f9e" /><Relationship Type="http://schemas.openxmlformats.org/officeDocument/2006/relationships/notesMaster" Target="/ppt/notesMasters/notesMaster1.xml" Id="Rfc149d3ffd34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6a4c08f994449" /><Relationship Type="http://schemas.openxmlformats.org/officeDocument/2006/relationships/notesMaster" Target="/ppt/notesMasters/notesMaster1.xml" Id="Rd92a0475c27f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71a1bac40e4d4f" /><Relationship Type="http://schemas.openxmlformats.org/officeDocument/2006/relationships/notesMaster" Target="/ppt/notesMasters/notesMaster1.xml" Id="R4186aacfc42a4b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2ae5a51f104e37" /><Relationship Type="http://schemas.openxmlformats.org/officeDocument/2006/relationships/notesMaster" Target="/ppt/notesMasters/notesMaster1.xml" Id="Rc95080c77d6743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9eeb6e0916412f" /><Relationship Type="http://schemas.openxmlformats.org/officeDocument/2006/relationships/notesMaster" Target="/ppt/notesMasters/notesMaster1.xml" Id="R008c9f9f79294f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54501748664782" /><Relationship Type="http://schemas.openxmlformats.org/officeDocument/2006/relationships/notesMaster" Target="/ppt/notesMasters/notesMaster1.xml" Id="R1618eac2ce7e47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9c295aae094fca" /><Relationship Type="http://schemas.openxmlformats.org/officeDocument/2006/relationships/notesMaster" Target="/ppt/notesMasters/notesMaster1.xml" Id="Racf3309d7e254d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614a054cbd4ce9" /><Relationship Type="http://schemas.openxmlformats.org/officeDocument/2006/relationships/notesMaster" Target="/ppt/notesMasters/notesMaster1.xml" Id="Ra8b5ad4afd9c4d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c40ed3b0014c62" /><Relationship Type="http://schemas.openxmlformats.org/officeDocument/2006/relationships/notesMaster" Target="/ppt/notesMasters/notesMaster1.xml" Id="Re06cdf7aa7104f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1428ebbe954344" /><Relationship Type="http://schemas.openxmlformats.org/officeDocument/2006/relationships/notesMaster" Target="/ppt/notesMasters/notesMaster1.xml" Id="R61fb02c2c82d47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a65e6129644aa4" /><Relationship Type="http://schemas.openxmlformats.org/officeDocument/2006/relationships/notesMaster" Target="/ppt/notesMasters/notesMaster1.xml" Id="R7e7696cc0aac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 and product/commodity_trading/ele_trading_budget/README.md.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 for the engineering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 and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3 and 4. Implementation: purchase_order.py, sale_order.py, account_move_lifecycle.py, stock_picking.py.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 and 6. Short-trade closure uses a separate condition from the long-trade fully-matched flag.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cue. Requires an Odoo environment with suitable sample product, partner, purchase order, sale order, and bill. Do not present this as a screenshot of a real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5 and 9. Implementation: trading_trade_pnl.py and stock_picking.py.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 6. For short positions the unrealized formula uses sale price less market price. Without a market price, a long position shows a conservative negative cost exposure placeholder; a short shows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 only. Formula basis: ele_trading README, section 6. Market price is manually entered.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 and 7. Implementation: trading_trade_pricing.py and account_move_lifecycle.py.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 8. The future delivery line model exists, but its parent One2many link is currently commented out. Avoid claiming the delivery lines are browseable from the parent futures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product/commodity_trading/ele_trading_budget/README.md.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 10. Verified in views/trading_trade_views.xml and views/menu.xml.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1, 3 and 5. Implementation files across product/commodity_trading/ele_trading/models.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12 and 13. README says no automated P&amp;L-engine coverage; the repository does contain tests for related order, invoice, and budget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cue for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885e886a9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6b3a30d03462e" /><Relationship Type="http://schemas.openxmlformats.org/officeDocument/2006/relationships/slideLayout" Target="/ppt/slideLayouts/slideLayout1.xml" Id="R58d41d8a9208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d41d8a9208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e146a8e49422b" /><Relationship Type="http://schemas.openxmlformats.org/officeDocument/2006/relationships/notesSlide" Target="/ppt/notesSlides/notesSlide1.xml" Id="Rcc52ae50c81b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e1f6f1be04d3c" /><Relationship Type="http://schemas.openxmlformats.org/officeDocument/2006/relationships/notesSlide" Target="/ppt/notesSlides/notesSlide2.xml" Id="Rceeec7d6efa6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a321e656e4ff8" /><Relationship Type="http://schemas.openxmlformats.org/officeDocument/2006/relationships/notesSlide" Target="/ppt/notesSlides/notesSlide3.xml" Id="R8f49d39cbbbd42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6bfc6a2ca4c9c" /><Relationship Type="http://schemas.openxmlformats.org/officeDocument/2006/relationships/notesSlide" Target="/ppt/notesSlides/notesSlide4.xml" Id="Ra56e2f838d1f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6afec865b4a77" /><Relationship Type="http://schemas.openxmlformats.org/officeDocument/2006/relationships/notesSlide" Target="/ppt/notesSlides/notesSlide5.xml" Id="Rb6ff1d694ca1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ffc8c4ca0430c" /><Relationship Type="http://schemas.openxmlformats.org/officeDocument/2006/relationships/notesSlide" Target="/ppt/notesSlides/notesSlide6.xml" Id="R54a487eb607046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754a2bea4bb9" /><Relationship Type="http://schemas.openxmlformats.org/officeDocument/2006/relationships/notesSlide" Target="/ppt/notesSlides/notesSlide7.xml" Id="R9c6d6de7df7a4f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2cdba164347de" /><Relationship Type="http://schemas.openxmlformats.org/officeDocument/2006/relationships/notesSlide" Target="/ppt/notesSlides/notesSlide8.xml" Id="Rb7465bb28a25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ad718b603409e" /><Relationship Type="http://schemas.openxmlformats.org/officeDocument/2006/relationships/notesSlide" Target="/ppt/notesSlides/notesSlide9.xml" Id="Rc299f013813343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df2bdee44ac7" /><Relationship Type="http://schemas.openxmlformats.org/officeDocument/2006/relationships/notesSlide" Target="/ppt/notesSlides/notesSlide10.xml" Id="R85737dfa7cf947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d46aa5def4105" /><Relationship Type="http://schemas.openxmlformats.org/officeDocument/2006/relationships/notesSlide" Target="/ppt/notesSlides/notesSlide11.xml" Id="R43841a5e13344c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6004a14fd48b3" /><Relationship Type="http://schemas.openxmlformats.org/officeDocument/2006/relationships/notesSlide" Target="/ppt/notesSlides/notesSlide12.xml" Id="R62ab790a1c4b42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c365f9b764305" /><Relationship Type="http://schemas.openxmlformats.org/officeDocument/2006/relationships/notesSlide" Target="/ppt/notesSlides/notesSlide13.xml" Id="R69a6db71a62842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f200c6dc4ded" /><Relationship Type="http://schemas.openxmlformats.org/officeDocument/2006/relationships/notesSlide" Target="/ppt/notesSlides/notesSlide14.xml" Id="Rdbb24225337045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a2ae813a14625" /><Relationship Type="http://schemas.openxmlformats.org/officeDocument/2006/relationships/notesSlide" Target="/ppt/notesSlides/notesSlide15.xml" Id="R588be0d60275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c6cba93fc44a9" /><Relationship Type="http://schemas.openxmlformats.org/officeDocument/2006/relationships/notesSlide" Target="/ppt/notesSlides/notesSlide16.xml" Id="R0e042334a9ba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67476-DEAB-45D4-98FD-F782333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24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ELEWA / ENGINEERING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E127-5234-4435-AB57-F9944EC5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76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the Standard Way</a:t>
            </a:r>
          </a:p>
          <a:p xmlns:a="http://schemas.openxmlformats.org/drawingml/2006/main">
            <a:pPr>
              <a:defRPr sz="48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Isn't Enough:</a:t>
            </a:r>
          </a:p>
          <a:p xmlns:a="http://schemas.openxmlformats.org/drawingml/2006/main">
            <a:pPr>
              <a:defRPr sz="48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 Odoo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C8740-A4E3-4C61-AB6B-DC61DB65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52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commodity trading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38F48-E1DC-4CC0-9D07-E0BE215B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293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AB29D"/>
                </a:solidFill>
                <a:latin typeface="Arial"/>
                <a:ea typeface="Arial"/>
                <a:cs typeface="Arial"/>
              </a:rPr>
              <a:t>Product story  /  architecture  /  live demo</a:t>
            </a:r>
          </a:p>
        </p:txBody>
      </p:sp>
    </p:spTree>
    <p:extLst>
      <p:ext uri="{BB962C8B-B14F-4D97-AF65-F5344CB8AC3E}">
        <p14:creationId xmlns:p14="http://schemas.microsoft.com/office/powerpoint/2010/main" val="1006474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E6FE7-DBB8-4237-8CB7-A0BB36C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BE8F8-A253-43E2-BE29-53F9B1B0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FAF88-DF2C-4BDC-AA27-C46C531E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FBCF7-EAA9-49EA-90B9-C72FBD2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01  Where standard Odoo stops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7B42D-9AD4-41FE-9D97-FBF9FB3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4714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gap between order records and a commodity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F0FCD-8863-4641-968C-31062C32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02  What I added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D3953-D7CC-42F6-84E5-2CF063FF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5"/>
            <a:ext cx="4714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Trade model and the Odoo events that update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0CEFC-5DC0-4BCB-B80B-96ECE8F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03  What it calculates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A2BDE-6EEF-40B9-8A0D-385CE6F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714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Position, P&amp;L, currency, costs and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64A5E-0EAD-4D02-8110-877EDE6A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053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04  What I will show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53BC-2611-4D13-B1CC-643A5B0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91075"/>
            <a:ext cx="4714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live path through the workflow, reporting and extensions.</a:t>
            </a:r>
          </a:p>
        </p:txBody>
      </p:sp>
    </p:spTree>
    <p:extLst>
      <p:ext uri="{BB962C8B-B14F-4D97-AF65-F5344CB8AC3E}">
        <p14:creationId xmlns:p14="http://schemas.microsoft.com/office/powerpoint/2010/main" val="2097954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1ED58-2777-41DC-8B69-4B82421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WHERE THE STANDARD WAY STOPS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8290C-979E-4B79-8677-C1D45E2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Orders do not describe a whole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47BF3-D302-4960-B89C-DA55922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Standard Odoo treats a purchase and sale as separate documents. A commodity position spans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3C1AD-B2CB-4951-81DB-27B68B36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D1BD7-9DBA-49E0-AFCD-B2B9755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Fragmented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D6580-F07A-4F77-8019-064D8DA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One purchase can be sold in parts across dates, prices and currencies.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B117A-A0A6-421C-9361-8C6FD64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Hidden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EC28A-C229-4EDF-9687-1CF135A1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remaining open quantity and paper P&amp;L are hard to see from orders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83484-07E5-457F-B118-4A6BB2C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Incomplete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9210-C4B2-49C6-87AF-55A7A11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Freight, storage and other bills change the real economics.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3AD89-FA57-4FE1-B1CF-9546BE9B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This is why the standard document flow was not enough.</a:t>
            </a:r>
          </a:p>
        </p:txBody>
      </p:sp>
    </p:spTree>
    <p:extLst>
      <p:ext uri="{BB962C8B-B14F-4D97-AF65-F5344CB8AC3E}">
        <p14:creationId xmlns:p14="http://schemas.microsoft.com/office/powerpoint/2010/main" val="766709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45BE2-A55A-46C0-B468-957F11D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WHAT I ADDED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D44A1-5B8B-4353-8FB4-AC76276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One Trade record connects the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01A8-677F-468C-BF96-9E29C39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Users stay in normal Odoo screens. The module responds to document lifecycle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0C02-AE8A-4857-98B3-09FD949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8CC73-8B82-41C5-A29E-00E445BE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1FB13-DFF9-41FD-B010-44DC0B7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confirmation creates or updates a long trade. Sale confirmation links a trade or opens a short 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C768B-4CD8-463B-82AE-431D9F3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289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Financials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DED51-730A-4B74-9CB0-443918D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Posted bills and invoices feed additional cost or revenue into the trade.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6A7C9-FC05-4604-8AC6-1471D0A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289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FFA41-C9FD-434A-BCF2-098B2F13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Validated receipts connect lots to the trade for physical on-hand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F2B9D-3FA3-46C9-81F1-668C5EF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Trade record is the shared identity across these models.</a:t>
            </a:r>
          </a:p>
        </p:txBody>
      </p:sp>
    </p:spTree>
    <p:extLst>
      <p:ext uri="{BB962C8B-B14F-4D97-AF65-F5344CB8AC3E}">
        <p14:creationId xmlns:p14="http://schemas.microsoft.com/office/powerpoint/2010/main" val="1426684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40B29-57CB-4EA4-96B2-7C65102D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2B3E2-CE9A-4281-8132-06E9E52A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position changes as the deal progresses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4CF19-136F-4944-B7CA-96A84EA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Long and short trades share one reporting surface, with different opening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A24ED-47E4-4D35-9934-7E53B0F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92375-3DC0-46AD-B644-C1567ABC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long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5E29-DBC2-4CCF-9233-486905F9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purchase order. The trade captures product, quantity, price and 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D147-7309-48C6-8296-AB4161B9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Sell 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8EAB-4FFE-4A14-826A-FF4ACB9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one or more sales. Sold quantity, open position and realized P&amp;L recompute.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1C88B-6AB2-41BD-A45C-31F597E1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9E0E2-11FD-47B7-8E8F-B814DC58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confirmed trade closes automatically when its matching condition is met.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3C678-C6C1-4FA0-9F4B-A59DD21A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sale without a matching open trade can create a short trade.</a:t>
            </a:r>
          </a:p>
        </p:txBody>
      </p:sp>
    </p:spTree>
    <p:extLst>
      <p:ext uri="{BB962C8B-B14F-4D97-AF65-F5344CB8AC3E}">
        <p14:creationId xmlns:p14="http://schemas.microsoft.com/office/powerpoint/2010/main" val="1316570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D6969-8369-4690-ABE3-5934F4A8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F9A0-43FE-464D-9090-8A446EE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path I will show in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34A36-DB96-46CC-B074-2F9ADC0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Each step should leave a visible change on the Trade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82CA9-9526-4E6A-9442-5D297D4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568B4-8D4B-406D-890B-80C8A7E1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Purchase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DA87D-9B11-484A-BC26-D33F73E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tracked commodity. Open the linked Trade and check the purchase leg.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AD2BC-FCD5-42DD-B0CA-BFF3DC2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Partial 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2AD52-684D-4C43-8DB3-A07CDF4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sale. Watch sold quantity and open position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199F5-C823-4EDB-B6D3-6500D176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Price + bill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969F9-9B03-4570-A0A6-AC2F586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9925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Enter a market price, then post a linked bill. Review P&amp;L and extra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4DB50-43E7-4FFC-A8CF-43D3778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Finish in Trading Reporting with list, graph and pivot views.</a:t>
            </a:r>
          </a:p>
        </p:txBody>
      </p:sp>
    </p:spTree>
    <p:extLst>
      <p:ext uri="{BB962C8B-B14F-4D97-AF65-F5344CB8AC3E}">
        <p14:creationId xmlns:p14="http://schemas.microsoft.com/office/powerpoint/2010/main" val="500467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8547B-130F-41DC-B309-FB8FF589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POSITION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677E-F309-446B-959C-B487A5D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quantities answer two separate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DF355-240E-4155-AF8F-848CDA1B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commercial position comes from orders. Physical on-hand comes from stock lots.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8CFEE-F4E1-4A79-942E-554DC4CB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4AACD-6941-441F-8887-FC24A694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Commercial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3E7E5-EFC2-4F11-B00F-605BB42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Purchased quantity minus total confirmed sold quantity. Positive is long exposure, negative is short.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628A3-176A-4CDB-B1E2-55FAE99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0987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Physical on hand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E4874-ED43-4BB3-8A8B-73CB56F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956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Quantity from lots linked through validated incoming stock pickings.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6231C-8874-4408-B52B-D01CC7B2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They can differ while receipts or deliveries are still in progress.</a:t>
            </a:r>
          </a:p>
        </p:txBody>
      </p:sp>
    </p:spTree>
    <p:extLst>
      <p:ext uri="{BB962C8B-B14F-4D97-AF65-F5344CB8AC3E}">
        <p14:creationId xmlns:p14="http://schemas.microsoft.com/office/powerpoint/2010/main" val="1580805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5BF1-74DF-43B4-9DDE-679345D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P&amp;L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8DAE9-60C6-4ADD-9E61-4D79478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Matched units and open units are priced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13863-AAEB-47CA-BEFA-6A0522B3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All monetary calculations use the reporting currency.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0D09D-B167-4DAA-84F1-81342F27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5A389-3C8D-4D22-9218-9758EED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Average cost per unit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78CF7-0216-44D7-AFA1-0066F96C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(Purchase quantity × converted purchase price + additional costs) ÷ purchase quantity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DFC68-292A-4E74-93A2-CDEEE41B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F4B68-051B-4E81-9CE9-9F9E452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Converted sales value less average cost of the matched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1630C-845C-46BF-AD5E-3B34D39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79A29-422B-43EA-8618-BFDC646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Open quantity × spread between market price and cost for a long 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5EE0D-CAFC-4715-8990-24374BE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Total P&amp;L = realized + unrealized + additional revenue.</a:t>
            </a:r>
          </a:p>
        </p:txBody>
      </p:sp>
    </p:spTree>
    <p:extLst>
      <p:ext uri="{BB962C8B-B14F-4D97-AF65-F5344CB8AC3E}">
        <p14:creationId xmlns:p14="http://schemas.microsoft.com/office/powerpoint/2010/main" val="965812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26C50-A692-4384-A8FF-2AAF88C5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381D5-15E6-4EB8-8801-180CEFC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partial sale in numbers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3F6D2-EA74-412C-A952-13C0245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Illustrative long trade in one reporting currency. No additional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F5BCF-DF04-47C0-8664-DBD4F82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FB8F4-B281-48E1-90A5-BBEB083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7652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100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E6357-B2ED-4473-A611-630EA513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bought at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A04AB-DD07-46B3-B5DE-AE85905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40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8EF38-CC85-459A-AE6D-62ADCF5F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sold at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B9BD2-EDA4-4B8C-AA90-D0F00FC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7652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60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13A06-8594-4D60-A427-4964A382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open at market price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AC444-C0BF-4AA1-94B9-445AAC4E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Extra cost: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AD542-10AA-4C8C-A297-97B678C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Average cost becomes 11 per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92449-F627-458B-A441-6CF15920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767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0E84-A118-44BC-96F1-8E2F08C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× (14 − 11) = 120.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B0A58-8354-4CC4-88AC-7113477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767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840BD-81B9-476F-89A5-97F18B4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60 × (12 − 11) = 60.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D0A14-A774-41E7-BB52-67B6172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Total P&amp;L = 180.</a:t>
            </a:r>
          </a:p>
        </p:txBody>
      </p:sp>
    </p:spTree>
    <p:extLst>
      <p:ext uri="{BB962C8B-B14F-4D97-AF65-F5344CB8AC3E}">
        <p14:creationId xmlns:p14="http://schemas.microsoft.com/office/powerpoint/2010/main" val="8677856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7E673-F572-418D-88A5-B918D58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CURRENCY AND INVOICES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884DB-B321-4DD0-839B-C49B311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financial picture follows source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3AA05-AF73-4E18-8DEE-0FAB3DB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records a transaction in its own currency, then converts it for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3099D-BF67-4ED3-9973-67CB1944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71C05-FCAC-4CE7-9BCB-CC655720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Historical FX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CCC2D-E4FF-44AC-B720-44FF4E5B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Each sale uses the exchange rate on its own order date. A blended sale price uses the reporting currency when sales span currencies.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06AF7-09A7-4E1E-B67F-1B65571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432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Invoice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4D7F6-9F68-4021-8A4C-918D21C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28975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bills or invoices add cost or revenue. Resetting to draft or unlinking reverses the contribution.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3DF8C-D9E8-447D-AEF8-A1BFD7A6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trade remains traceable to the documents behind the number.</a:t>
            </a:r>
          </a:p>
        </p:txBody>
      </p:sp>
    </p:spTree>
    <p:extLst>
      <p:ext uri="{BB962C8B-B14F-4D97-AF65-F5344CB8AC3E}">
        <p14:creationId xmlns:p14="http://schemas.microsoft.com/office/powerpoint/2010/main" val="1560258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CA8FF-9CBC-494D-87CD-A8F063B0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CB822-9867-4A63-B86D-23EBB59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Futures sit under the parent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07105-0CD0-42FD-8419-248FCD6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Contract tracking is separate from the trade’s order bookkeeping.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D099F-988B-42B1-9B3B-E8350BC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CA385-8F25-49C7-A564-1634F80B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Terms and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A72B1-8B8C-4CFA-993C-866495A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contract records price and quantity, plus delivered and open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86A76-C0AE-497C-BE81-D969F48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A9211-F867-42E9-A32D-661AB745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4327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Compares actual sales value with contract value for the delivered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AE17A-40F4-4D7D-85C1-EC501F3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5163-CE76-4D4E-ADEB-7C1F7A19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4327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Uses the parent trade direction and current market price for the undelivered portion.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25696-26F9-4C2D-9283-26EDE3C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This is a feature to show after the core position demo.</a:t>
            </a:r>
          </a:p>
        </p:txBody>
      </p:sp>
    </p:spTree>
    <p:extLst>
      <p:ext uri="{BB962C8B-B14F-4D97-AF65-F5344CB8AC3E}">
        <p14:creationId xmlns:p14="http://schemas.microsoft.com/office/powerpoint/2010/main" val="761843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77552-399E-4983-B474-21A2617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245CD-D2F8-4975-B5FE-43091AE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Trade Budgets adds planned versus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29E6C-0AD5-4B8E-85CD-7641DD15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It is a separately installable addon layered on top of core Trading.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B7F9-52A3-4A7B-9B1D-218EF16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0402C-24C0-4828-924D-7AB1636C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47E14-C538-4F89-84DB-9F9047A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One budget per trade holds budgeted or target cost and revenue, using the target margin.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75AA2-9EA6-45E9-A813-0AA546DB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Actuals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208E9-F6F3-4135-A65F-6EA52E95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Posted bills, invoices and expenses populate actual cost and revenue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A5A2-6C0D-4DA9-B461-300D2ED5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7EB3A-E3C5-4DD3-A20D-B41FD27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cost and revenue variance appears once the trade is fully matched.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EF89C-CFE7-4F11-B082-3B2436D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Core Trading continues to work when the budget addon is absent.</a:t>
            </a:r>
          </a:p>
        </p:txBody>
      </p:sp>
    </p:spTree>
    <p:extLst>
      <p:ext uri="{BB962C8B-B14F-4D97-AF65-F5344CB8AC3E}">
        <p14:creationId xmlns:p14="http://schemas.microsoft.com/office/powerpoint/2010/main" val="596304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9D8FB-B74F-49BE-9EC3-C4731F50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REPORTING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DFF0-183B-47BE-8D13-1A9F3AB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result is inspectable from several angles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8E485-3EB6-4790-AC6D-9C67C30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 trade form supports investigation; reporting views support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9C29B-8E53-4A15-BA3F-6E64DD37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A1973-3A3B-4457-8256-E62FB95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Trade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DC772-E46B-4E65-AF61-4490F74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Open and closed position summaries show quantity, cost basis and P&amp;L. Smart buttons reach linked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666A4-FE28-4106-98AC-3BBA18C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DD1F3-3E9F-4A18-B853-DE058BA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List, Kanban, graph and pivot views. Filters include trade type, status, profitability and fully matched.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774B4-4CFB-4EA7-B1B6-8CB7E12E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In the demo, open the source documents from the Trade before showing aggregate views.</a:t>
            </a:r>
          </a:p>
        </p:txBody>
      </p:sp>
    </p:spTree>
    <p:extLst>
      <p:ext uri="{BB962C8B-B14F-4D97-AF65-F5344CB8AC3E}">
        <p14:creationId xmlns:p14="http://schemas.microsoft.com/office/powerpoint/2010/main" val="104732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680F0-A8C0-4921-9FE3-01346C00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ENGINEERING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AF2D-8C56-41B5-AF35-0041C83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Why the design is interesting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7FF5D-39E8-49AB-97AB-055D163B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strongest part is making existing workflows produce a coherent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50B6E-EE1E-4A12-A40E-A838126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91E3B-AD5B-4E58-BDE2-95CCC96D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Event driven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54E2E-A9E1-4153-BFB0-8570086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Order confirmation, invoice posting and stock validation drive updates.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CB15B-C3A8-492D-8C16-A794305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5B497-B307-4C8E-B561-D00BC16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Purchase, sale, invoice and stock records link back to the Trade.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024D4-AFD2-463F-81DD-214175DE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28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Explicit economics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B8F9C-2D0C-4A1A-9C72-57069127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Stored computed measures expose position, cost basis and P&amp;L in views and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5DDB1-D0BC-41CE-8F2A-23C27BB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Users do not need to re-enter a trade after doing the operational work.</a:t>
            </a:r>
          </a:p>
        </p:txBody>
      </p:sp>
    </p:spTree>
    <p:extLst>
      <p:ext uri="{BB962C8B-B14F-4D97-AF65-F5344CB8AC3E}">
        <p14:creationId xmlns:p14="http://schemas.microsoft.com/office/powerpoint/2010/main" val="788299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DF549-7DDB-4DC4-9817-AA292F8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CURRENT EDGES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49366-E415-49A1-B0C8-3A07C33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39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I would harden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C2D83-29BE-4BD9-B0D1-2C42AF62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is functional, with a few areas worth discussing as engineers.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F3B05-2639-4AB1-A836-DE1EFD31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58F59-E04A-4387-B3A9-FC5A54C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Financial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E33FB-8CDD-4FE9-987C-26E7F939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core P&amp;L calculation needs broader automated coverage before higher volume reliance.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1D28B-68B1-4E53-A97C-59D8DBD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E0543-7794-419F-B1BE-F0337C3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Dependent field recomputation has not been load-tested at high trade volume.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3125-C45A-4E75-BA59-99478930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19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Bill reversal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38BD8-850A-4499-97B0-5A63892C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1908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direct vendor bill with a matching product has a partial draft reversal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40EF9-E8FF-40B1-AACC-5811E58B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These are the next engineering steps, not hidden assumptions.</a:t>
            </a:r>
          </a:p>
        </p:txBody>
      </p:sp>
    </p:spTree>
    <p:extLst>
      <p:ext uri="{BB962C8B-B14F-4D97-AF65-F5344CB8AC3E}">
        <p14:creationId xmlns:p14="http://schemas.microsoft.com/office/powerpoint/2010/main" val="11083726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84F18-12DD-441D-B069-92DDC23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292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6A2C6-E7AF-47FE-8E3F-64BA4915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trade.</a:t>
            </a:r>
          </a:p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whole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DDE84-2FB5-4CBC-86D8-48EE647F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191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 Odoo supplies the orders and invoices. This module connects them into a live commodity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93E67-179C-44CF-926E-76913ABF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15025"/>
            <a:ext cx="981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Now let me show you the actual workflow.</a:t>
            </a:r>
          </a:p>
        </p:txBody>
      </p:sp>
    </p:spTree>
    <p:extLst>
      <p:ext uri="{BB962C8B-B14F-4D97-AF65-F5344CB8AC3E}">
        <p14:creationId xmlns:p14="http://schemas.microsoft.com/office/powerpoint/2010/main" val="901313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2026-09-22T13:02:24.6350000Z</dcterms:created>
  <dcterms:modified xsi:type="dcterms:W3CDTF">2026-09-22T13:02:24.6350000Z</dcterms:modified>
</coreProperties>
</file>