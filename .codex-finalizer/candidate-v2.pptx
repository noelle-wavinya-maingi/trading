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c9c70f7d5642ae" /><Relationship Type="http://schemas.openxmlformats.org/officeDocument/2006/relationships/extended-properties" Target="/docProps/app.xml" Id="Ra654548b640d43d8" /><Relationship Type="http://schemas.openxmlformats.org/officeDocument/2006/relationships/officeDocument" Target="/ppt/presentation.xml" Id="R17e9fa9e5ae741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8b2220e0554208"/>
  </p:sldMasterIdLst>
  <p:notesMasterIdLst>
    <p:notesMasterId xmlns:r="http://schemas.openxmlformats.org/officeDocument/2006/relationships" r:id="R9e6deb0a9f9a40c3"/>
  </p:notesMasterIdLst>
  <p:sldIdLst>
    <p:sldId xmlns:r="http://schemas.openxmlformats.org/officeDocument/2006/relationships" id="256" r:id="R62598ba968fd4cd7"/>
    <p:sldId xmlns:r="http://schemas.openxmlformats.org/officeDocument/2006/relationships" id="257" r:id="R33af0775ac164ea3"/>
    <p:sldId xmlns:r="http://schemas.openxmlformats.org/officeDocument/2006/relationships" id="258" r:id="Rcf3aa6afed994af0"/>
    <p:sldId xmlns:r="http://schemas.openxmlformats.org/officeDocument/2006/relationships" id="259" r:id="R3628671175624d9c"/>
    <p:sldId xmlns:r="http://schemas.openxmlformats.org/officeDocument/2006/relationships" id="260" r:id="Re0c09ff10df9451e"/>
    <p:sldId xmlns:r="http://schemas.openxmlformats.org/officeDocument/2006/relationships" id="261" r:id="Rc7f0efb00717494a"/>
    <p:sldId xmlns:r="http://schemas.openxmlformats.org/officeDocument/2006/relationships" id="262" r:id="R208a030cb8ff41d3"/>
    <p:sldId xmlns:r="http://schemas.openxmlformats.org/officeDocument/2006/relationships" id="263" r:id="R8bc9b38b9c7449e5"/>
    <p:sldId xmlns:r="http://schemas.openxmlformats.org/officeDocument/2006/relationships" id="264" r:id="R55c8fc181d4a41d9"/>
    <p:sldId xmlns:r="http://schemas.openxmlformats.org/officeDocument/2006/relationships" id="265" r:id="R4982ddda6f7041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ab2ce560ab41d8" /><Relationship Type="http://schemas.openxmlformats.org/officeDocument/2006/relationships/slideMaster" Target="/ppt/slideMasters/slideMaster1.xml" Id="R378b2220e0554208" /><Relationship Type="http://schemas.openxmlformats.org/officeDocument/2006/relationships/notesMaster" Target="/ppt/notesMasters/notesMaster1.xml" Id="R9e6deb0a9f9a40c3" /><Relationship Type="http://schemas.openxmlformats.org/officeDocument/2006/relationships/presProps" Target="/ppt/presProps.xml" Id="R463a4dbc8f594626" /><Relationship Type="http://schemas.openxmlformats.org/officeDocument/2006/relationships/tableStyles" Target="/ppt/tableStyles.xml" Id="Rb25f00bc6aed4d85" /><Relationship Type="http://schemas.openxmlformats.org/officeDocument/2006/relationships/slide" Target="/ppt/slides/slide1.xml" Id="R62598ba968fd4cd7" /><Relationship Type="http://schemas.openxmlformats.org/officeDocument/2006/relationships/slide" Target="/ppt/slides/slide2.xml" Id="R33af0775ac164ea3" /><Relationship Type="http://schemas.openxmlformats.org/officeDocument/2006/relationships/slide" Target="/ppt/slides/slide3.xml" Id="Rcf3aa6afed994af0" /><Relationship Type="http://schemas.openxmlformats.org/officeDocument/2006/relationships/slide" Target="/ppt/slides/slide4.xml" Id="R3628671175624d9c" /><Relationship Type="http://schemas.openxmlformats.org/officeDocument/2006/relationships/slide" Target="/ppt/slides/slide5.xml" Id="Re0c09ff10df9451e" /><Relationship Type="http://schemas.openxmlformats.org/officeDocument/2006/relationships/slide" Target="/ppt/slides/slide6.xml" Id="Rc7f0efb00717494a" /><Relationship Type="http://schemas.openxmlformats.org/officeDocument/2006/relationships/slide" Target="/ppt/slides/slide7.xml" Id="R208a030cb8ff41d3" /><Relationship Type="http://schemas.openxmlformats.org/officeDocument/2006/relationships/slide" Target="/ppt/slides/slide8.xml" Id="R8bc9b38b9c7449e5" /><Relationship Type="http://schemas.openxmlformats.org/officeDocument/2006/relationships/slide" Target="/ppt/slides/slide9.xml" Id="R55c8fc181d4a41d9" /><Relationship Type="http://schemas.openxmlformats.org/officeDocument/2006/relationships/slide" Target="/ppt/slides/slide10.xml" Id="R4982ddda6f7041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cb1ff0dd8441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cc5579b34c4917" /><Relationship Type="http://schemas.openxmlformats.org/officeDocument/2006/relationships/notesMaster" Target="/ppt/notesMasters/notesMaster1.xml" Id="R6153e363138f43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5d7aa04b6b4434" /><Relationship Type="http://schemas.openxmlformats.org/officeDocument/2006/relationships/notesMaster" Target="/ppt/notesMasters/notesMaster1.xml" Id="R0735e44411a241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0bbf9b5ec441c1" /><Relationship Type="http://schemas.openxmlformats.org/officeDocument/2006/relationships/notesMaster" Target="/ppt/notesMasters/notesMaster1.xml" Id="R105b388de75940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c2600c47b341de" /><Relationship Type="http://schemas.openxmlformats.org/officeDocument/2006/relationships/notesMaster" Target="/ppt/notesMasters/notesMaster1.xml" Id="R9cd93c1d9be249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652ee19de24652" /><Relationship Type="http://schemas.openxmlformats.org/officeDocument/2006/relationships/notesMaster" Target="/ppt/notesMasters/notesMaster1.xml" Id="R1c2a6d54b97142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ec852147bd4391" /><Relationship Type="http://schemas.openxmlformats.org/officeDocument/2006/relationships/notesMaster" Target="/ppt/notesMasters/notesMaster1.xml" Id="Rab1ed794a0fd49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100ac55e364710" /><Relationship Type="http://schemas.openxmlformats.org/officeDocument/2006/relationships/notesMaster" Target="/ppt/notesMasters/notesMaster1.xml" Id="R7b8293b711ef4c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855a791d784551" /><Relationship Type="http://schemas.openxmlformats.org/officeDocument/2006/relationships/notesMaster" Target="/ppt/notesMasters/notesMaster1.xml" Id="Re42a5b67db254d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23085ffa424d16" /><Relationship Type="http://schemas.openxmlformats.org/officeDocument/2006/relationships/notesMaster" Target="/ppt/notesMasters/notesMaster1.xml" Id="R5beb540843ef48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51fa6b54614e3c" /><Relationship Type="http://schemas.openxmlformats.org/officeDocument/2006/relationships/notesMaster" Target="/ppt/notesMasters/notesMaster1.xml" Id="Rd7ef9f8d598141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for all product claims: product/commodity_trading/ele_trading/README.md and product/commodity_trading/ele_trading_budget/README.md.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Agenda reflects the structure of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ele_trading README, sections 1 and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ele_trading README, sections 1, 3 and 4. “Ledger” is descriptive language, not a separate general ledger feature.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ele_trading README, section 4 and auto-close logic in section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quantities only, not actual trading data. Source for formulas: ele_trading README, sections 5 and 6. Market price is entered manually. Without a market price, the long trade uses a conservative placeholder for unrealized P&amp;L as documented.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ele_trading README, sections 2, 4, 6 and 7. Mixed currency sale prices are converted to the reporting currency before blending.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ele_trading README, sections 5 and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ele_trading README, section 8, and ele_trading_budget README. Trade Budgets are an optional separate addon.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rationale based on ele_trading README, sections 1 and 2. “My masterpiece” reflects the presenter’s own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db89a11c142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de6c9c970a49b5" /><Relationship Type="http://schemas.openxmlformats.org/officeDocument/2006/relationships/slideLayout" Target="/ppt/slideLayouts/slideLayout1.xml" Id="R7605d34c77d645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05d34c77d645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8d9ac76c840bc" /><Relationship Type="http://schemas.openxmlformats.org/officeDocument/2006/relationships/notesSlide" Target="/ppt/notesSlides/notesSlide1.xml" Id="Rfc4dfcdd2fb24b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997a0981a45a0" /><Relationship Type="http://schemas.openxmlformats.org/officeDocument/2006/relationships/notesSlide" Target="/ppt/notesSlides/notesSlide2.xml" Id="R88b388130c5249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d0b1a13cf4440" /><Relationship Type="http://schemas.openxmlformats.org/officeDocument/2006/relationships/notesSlide" Target="/ppt/notesSlides/notesSlide3.xml" Id="R9c99af7acfd543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00d0e5b594a7b" /><Relationship Type="http://schemas.openxmlformats.org/officeDocument/2006/relationships/notesSlide" Target="/ppt/notesSlides/notesSlide4.xml" Id="Raa0211ba8b6245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5fd0a4fba4145" /><Relationship Type="http://schemas.openxmlformats.org/officeDocument/2006/relationships/notesSlide" Target="/ppt/notesSlides/notesSlide5.xml" Id="R1d0d59b4363c44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720a8bb1c4d00" /><Relationship Type="http://schemas.openxmlformats.org/officeDocument/2006/relationships/notesSlide" Target="/ppt/notesSlides/notesSlide6.xml" Id="Rc1054d8e026f48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40220aa174cf8" /><Relationship Type="http://schemas.openxmlformats.org/officeDocument/2006/relationships/notesSlide" Target="/ppt/notesSlides/notesSlide7.xml" Id="Rf2e0c4882e5b46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a0f74798e496f" /><Relationship Type="http://schemas.openxmlformats.org/officeDocument/2006/relationships/notesSlide" Target="/ppt/notesSlides/notesSlide8.xml" Id="Rb1959092f8024e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401ec30514cc6" /><Relationship Type="http://schemas.openxmlformats.org/officeDocument/2006/relationships/notesSlide" Target="/ppt/notesSlides/notesSlide9.xml" Id="R556fd820a91b40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8ac6356da48bc" /><Relationship Type="http://schemas.openxmlformats.org/officeDocument/2006/relationships/notesSlide" Target="/ppt/notesSlides/notesSlide10.xml" Id="R1235304a518341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5E7D7-EA8B-4107-B3F8-4398E751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AB2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AB29D"/>
                </a:solidFill>
                <a:latin typeface="Arial"/>
                <a:ea typeface="Arial"/>
                <a:cs typeface="Arial"/>
              </a:rPr>
              <a:t>ELEWA  /  PRODUCT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6609E-578D-4A91-A7DA-F11F5EC0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64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Commodity</a:t>
            </a:r>
          </a:p>
          <a:p xmlns:a="http://schemas.openxmlformats.org/drawingml/2006/main">
            <a:pPr>
              <a:defRPr sz="64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64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trading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7F3C1-A869-42C8-A7A7-C2BF3DE9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single view of the position, the economics and the documents behind every trade.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1C6CA-83FF-4A97-8A30-BC8A3693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AB29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AB29D"/>
                </a:solidFill>
                <a:latin typeface="Arial"/>
                <a:ea typeface="Arial"/>
                <a:cs typeface="Arial"/>
              </a:rPr>
              <a:t>Built in Odoo</a:t>
            </a:r>
          </a:p>
        </p:txBody>
      </p:sp>
    </p:spTree>
    <p:extLst>
      <p:ext uri="{BB962C8B-B14F-4D97-AF65-F5344CB8AC3E}">
        <p14:creationId xmlns:p14="http://schemas.microsoft.com/office/powerpoint/2010/main" val="14073818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F6568-7FFC-47AF-86A3-777466A8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35823-6F59-464B-91DB-310D7540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Agenda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9B00A-F47A-4116-8F52-D3534542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A341A-A9EB-425D-97B3-9EA1128D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01  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12420-F229-4C8A-A1FB-39E2A51E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714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Why standard purchase and sale records lose the thread of a trade.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5BDED-8D24-4644-AC57-5ABCC881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02  The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04A85-7481-4A3D-ADAD-EAA6E26D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05075"/>
            <a:ext cx="4714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 central trade record and its workflow inside Odoo.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8BF76-605B-443D-9849-24D5EFE2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03  The detail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BF9C4-D71C-4CB9-A239-8664BF0C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4714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Position, P&amp;L, FX, extra costs and physical stock.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C1D8F-EE1E-45FC-9A4C-FB731154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04  The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45979-BAD8-4A8B-ADBB-DBD1079F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714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Why one connected trade view matters to the business.</a:t>
            </a:r>
          </a:p>
        </p:txBody>
      </p:sp>
    </p:spTree>
    <p:extLst>
      <p:ext uri="{BB962C8B-B14F-4D97-AF65-F5344CB8AC3E}">
        <p14:creationId xmlns:p14="http://schemas.microsoft.com/office/powerpoint/2010/main" val="8039263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22026-842F-4423-82B2-C0FD9AB2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096CE-47B8-4046-97F3-327E58A5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Trading spans more than one document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D7B54-05E0-4CE9-AE11-5ED67EF2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A commodity position evolves after the first purchase or sale.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E2AB9-AD19-4F45-BC06-14987FDA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44A96-AAB3-41B4-8C0A-C534185D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Partial sales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99716-480A-4F69-A7AE-DC3BAB80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4700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One purchase may be sold in several orders, at different prices and dates.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BA6FD-AC1B-4535-B1A5-A82342FB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Mixed currencies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F3507-B133-4BEB-BA71-3AAFCC76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14700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 purchase and subsequent sales may use different currencies.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77E9E-F3C1-4F23-AFD3-933F61CE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5750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True profitability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202F3-3C11-46FC-A1B5-2C6628A5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14700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Freight, storage and other bills can change the actual result.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1B7F3-61F9-4861-8F1A-546CC9BD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Without a shared trade record, the team has to reconcile the position and profit outside Odoo.</a:t>
            </a:r>
          </a:p>
        </p:txBody>
      </p:sp>
    </p:spTree>
    <p:extLst>
      <p:ext uri="{BB962C8B-B14F-4D97-AF65-F5344CB8AC3E}">
        <p14:creationId xmlns:p14="http://schemas.microsoft.com/office/powerpoint/2010/main" val="1133811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C6E52-DF26-491C-B746-03122598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12DE7-4676-4882-90C5-002C6A38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The Trade is the central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1AA7D-5648-4F2D-A89A-F2ABA241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module derives it from the Odoo documents the team already 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1B2A5-1887-4296-92A3-446E8B63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B6487-9BF8-4303-8E30-D00F32C7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8130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Purchase orders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F29EF-5BCF-4B1E-A9F2-A58B9C28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 confirmed purchase opens or updates a long trade.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21628-BB01-4A7E-AC91-6E34C617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Sale orders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06F7A-B93D-4596-BFB4-7C8780F1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 confirmed sale links to an open trade. If none exists, it can open a short trade.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6B84D-FFC8-4D55-B3F3-3A24346F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8130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Bills and stock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194B7-7648-4B81-893B-F0B32024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38500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Linked invoices affect extra cost or revenue. Validated receipts link stock lots.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BF8FE-AD10-4F41-B499-29F6E864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result: one connected ledger for the commercial position and its financial outcome.</a:t>
            </a:r>
          </a:p>
        </p:txBody>
      </p:sp>
    </p:spTree>
    <p:extLst>
      <p:ext uri="{BB962C8B-B14F-4D97-AF65-F5344CB8AC3E}">
        <p14:creationId xmlns:p14="http://schemas.microsoft.com/office/powerpoint/2010/main" val="5624539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2F57B-E755-4B6C-874B-3C9E46D9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B1CE6-92B5-4E71-883D-DBC73C07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A trade follows the deal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3BE33-E34F-4F12-917D-5DB4E496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record changes as orders are confirmed and the position is sold down.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A85FC-1CC0-43EC-9917-4333CE2E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E7BC3-9A4C-4462-B64A-B99BEEA5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33675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1  Open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F170F-84B5-4FC5-A90C-9AC69349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Confirm a purchase order. The trade captures product, quantity, price and currency.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53B5B-971A-42EC-AED3-C5A4DB94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33675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2  Sell down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B65C4-E59A-469C-A18F-21657178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90875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Confirm one or more sales. Sold quantity and the open position update.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E41A6-00BB-41DB-AC43-6155B0B8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33675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3  Close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E77F4-8BAF-4C61-A15F-409EB80A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90875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When purchase and sale quantities fully match, the confirmed trade closes automatically.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6E9E2-B534-47D2-94E7-DAE2B089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Short trades can start from a sale when no matching open trade exists.</a:t>
            </a:r>
          </a:p>
        </p:txBody>
      </p:sp>
    </p:spTree>
    <p:extLst>
      <p:ext uri="{BB962C8B-B14F-4D97-AF65-F5344CB8AC3E}">
        <p14:creationId xmlns:p14="http://schemas.microsoft.com/office/powerpoint/2010/main" val="3522923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0D51C-24E7-47B9-9F45-52EAAF54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74545-ACD4-42AF-978C-61737549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The position and P&amp;L stay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CC9E9-E928-4B70-824D-315431BF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An illustrative long trade shows how the main measures relate.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DCD21-EDF4-4671-9F91-0E4DA86D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7FB50-7FC1-43A4-AE24-C6CD8374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100 units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A3D2D-EE01-4A51-8C47-79574178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62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purchased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4EF50-774C-44C0-9284-8F9F9F48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19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40 units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BB0E4-A709-460F-AFE6-F0FD6851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62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sold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40C20-1C68-4838-A9B5-1912BAE2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60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2C954-0951-4EA1-8EDC-EC2608A4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62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still open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12423-DAFC-402D-B1A2-A2BF5F95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Realized P&amp;L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D1AA5-704B-4BE4-BB00-B85F7EE1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Sales value less the average cost of the matched 40 units.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03FBA-0224-47C9-B5E3-89B10C86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576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Unrealized P&amp;L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DF723-2921-4C38-B85C-5BA2C0D6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148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Market price compared with the cost of the 60 open units.</a:t>
            </a:r>
          </a:p>
        </p:txBody>
      </p:sp>
    </p:spTree>
    <p:extLst>
      <p:ext uri="{BB962C8B-B14F-4D97-AF65-F5344CB8AC3E}">
        <p14:creationId xmlns:p14="http://schemas.microsoft.com/office/powerpoint/2010/main" val="120304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59FE6-6AA5-48C4-8C6A-8FB41184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FINANCIAL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1006D-8214-41A0-8FA5-211CA643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Profit reflects the actual trade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2B5A3-DC20-460E-8709-FBC6C1E4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module keeps extra charges and currency conversion tied to their source dates.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CA958-6854-4757-80EA-3CDC9EE2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B2B10-CAFD-47CC-9E43-9977001F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Transaction date FX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72577-6E64-4C7F-B16F-73C5EAA2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953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Each purchase or sale converts at its own transaction date into the reporting currency.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868A2-507D-4DF1-8CAE-51439144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Additional cost and revenue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8181E-1AE4-444D-BB6E-872818F0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4953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Linked bills and invoices contribute amounts beyond the original order values.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43C61-DC7B-4084-8821-3ACA003B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A market price can be entered on an open trade to estimate unrealized P&amp;L.</a:t>
            </a:r>
          </a:p>
        </p:txBody>
      </p:sp>
    </p:spTree>
    <p:extLst>
      <p:ext uri="{BB962C8B-B14F-4D97-AF65-F5344CB8AC3E}">
        <p14:creationId xmlns:p14="http://schemas.microsoft.com/office/powerpoint/2010/main" val="2776243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867CC-53A6-4609-AB94-3B7884B2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OPERATIONAL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2153E-0757-4FAE-A580-99AE5D88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Commercial and physical are different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4C89A-2437-4CE8-BD21-760E858B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module tracks both, because they answer different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7D039-EE7E-4CA3-8F85-E4157903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0C027-5989-4373-BEC0-A9AE2C3E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Open position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94DC8-05C9-46F3-A23E-15C6F29A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Purchase quantity less sold quantity. This is the outstanding commercial exposure.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8A95E-B0D3-48C1-A213-125F466E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On hand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16233-FC79-42BA-B150-B46340E7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Physical inventory from stock lots linked to validated goods receipts.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688CB-D5EC-4270-89BD-AB92DA1F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These figures can differ while a receipt or delivery is still in progress.</a:t>
            </a:r>
          </a:p>
        </p:txBody>
      </p:sp>
    </p:spTree>
    <p:extLst>
      <p:ext uri="{BB962C8B-B14F-4D97-AF65-F5344CB8AC3E}">
        <p14:creationId xmlns:p14="http://schemas.microsoft.com/office/powerpoint/2010/main" val="19549383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9094F-E4F8-454D-9395-01D3A065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FURTHER CAPABILITY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EE697-706A-4978-BCDE-9E91B325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Contracts and budgets extend the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A4E57-DEAA-4634-9781-F0D94AC2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core trade remains the anchor for additional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B68E3-95EF-4F78-81D5-516B55B1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C6C6A-93EF-4975-9F5B-37026EF4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Futures contracts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65493-18F1-4495-9DCC-04288ECF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953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Nested contracts track agreed price and quantity, delivered balance, and contract P&amp;L.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BB6D3-40E0-4D43-8A4B-C84FE32E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Optional Trade Budgets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FF4D3-D8F8-4975-BA1E-053DD1C5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4953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 separate module compares planned cost and revenue with actuals from posted bills, invoices and expenses.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73372-504D-492F-999F-182D7795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Budget variance appears once a trade is fully matched.</a:t>
            </a:r>
          </a:p>
        </p:txBody>
      </p:sp>
    </p:spTree>
    <p:extLst>
      <p:ext uri="{BB962C8B-B14F-4D97-AF65-F5344CB8AC3E}">
        <p14:creationId xmlns:p14="http://schemas.microsoft.com/office/powerpoint/2010/main" val="20469765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10C5A-24A3-422F-89EF-AEC62609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WHY THIS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AAF48-5A60-4ABF-BAC9-4B015435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A trade deserves one clear picture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238A8-EE4A-4F14-8281-8181CCAE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product connects operational work with the outcome the business cares about.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07C3E-5F05-4131-BD51-27CEDD78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DB10E-BCD8-413B-96C7-1C335AE9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Less reconciliation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20A77-1FB2-4883-B5FD-FE5117FA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Purchases and sales feed the trade directly as staff confirm them.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4095A-68D4-4EE2-A63F-F065CA24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6225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Earlier visibility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7AB79-7790-4D9B-88B8-9E9B5278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19450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Open quantity and realized or unrealized P&amp;L stay available as the deal evolves.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C4797-2AA1-4CAC-B90A-A321719F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6225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Better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2A09D-A68A-4F1B-81A8-18ED3FBC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19450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Costs, currencies and stock sit beside the commercial position.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305B7-BC80-44ED-93A5-B81EDA44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My masterpiece was making the whole trade legible in the system people already use.</a:t>
            </a:r>
          </a:p>
        </p:txBody>
      </p:sp>
    </p:spTree>
    <p:extLst>
      <p:ext uri="{BB962C8B-B14F-4D97-AF65-F5344CB8AC3E}">
        <p14:creationId xmlns:p14="http://schemas.microsoft.com/office/powerpoint/2010/main" val="14501288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2026-09-22T11:30:30.3110000Z</dcterms:created>
  <dcterms:modified xsi:type="dcterms:W3CDTF">2026-09-22T11:30:30.3110000Z</dcterms:modified>
</coreProperties>
</file>