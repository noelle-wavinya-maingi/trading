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cda9439d684de7" /><Relationship Type="http://schemas.openxmlformats.org/officeDocument/2006/relationships/extended-properties" Target="/docProps/app.xml" Id="R2c3f921b54aa4f94" /><Relationship Type="http://schemas.openxmlformats.org/officeDocument/2006/relationships/officeDocument" Target="/ppt/presentation.xml" Id="R0d3501302f6f46f4" /></Relationships>
</file>

<file path=ppt/presentation.xml><?xml version="1.0" encoding="utf-8"?>
<p:presentation xmlns:p="http://schemas.openxmlformats.org/presentationml/2006/main">
  <p:sldMasterIdLst>
    <p:sldMasterId xmlns:r="http://schemas.openxmlformats.org/officeDocument/2006/relationships" id="2147483648" r:id="R04d6ce37856f48fa"/>
  </p:sldMasterIdLst>
  <p:notesMasterIdLst>
    <p:notesMasterId xmlns:r="http://schemas.openxmlformats.org/officeDocument/2006/relationships" r:id="R6b83e715ce9949be"/>
  </p:notesMasterIdLst>
  <p:sldIdLst>
    <p:sldId xmlns:r="http://schemas.openxmlformats.org/officeDocument/2006/relationships" id="256" r:id="Re68e81f15eca427d"/>
    <p:sldId xmlns:r="http://schemas.openxmlformats.org/officeDocument/2006/relationships" id="257" r:id="R4fbd2afe0f394c6b"/>
    <p:sldId xmlns:r="http://schemas.openxmlformats.org/officeDocument/2006/relationships" id="258" r:id="Rccb8fbbdc8904b43"/>
    <p:sldId xmlns:r="http://schemas.openxmlformats.org/officeDocument/2006/relationships" id="259" r:id="R6e7c7a78856b403a"/>
    <p:sldId xmlns:r="http://schemas.openxmlformats.org/officeDocument/2006/relationships" id="260" r:id="R2cdf0f5f9c98401f"/>
    <p:sldId xmlns:r="http://schemas.openxmlformats.org/officeDocument/2006/relationships" id="261" r:id="R2fdc1df3fcdf4cd5"/>
    <p:sldId xmlns:r="http://schemas.openxmlformats.org/officeDocument/2006/relationships" id="262" r:id="R1cb334e467ac491c"/>
    <p:sldId xmlns:r="http://schemas.openxmlformats.org/officeDocument/2006/relationships" id="263" r:id="Rc33b025888904185"/>
    <p:sldId xmlns:r="http://schemas.openxmlformats.org/officeDocument/2006/relationships" id="264" r:id="R41d32b6ab2274164"/>
    <p:sldId xmlns:r="http://schemas.openxmlformats.org/officeDocument/2006/relationships" id="265" r:id="R2fceb2be34bf489b"/>
    <p:sldId xmlns:r="http://schemas.openxmlformats.org/officeDocument/2006/relationships" id="266" r:id="Rd1fb5ecb57514847"/>
    <p:sldId xmlns:r="http://schemas.openxmlformats.org/officeDocument/2006/relationships" id="267" r:id="R6fddcf0a82f54c96"/>
    <p:sldId xmlns:r="http://schemas.openxmlformats.org/officeDocument/2006/relationships" id="268" r:id="Rb8ab8a41024a40c8"/>
    <p:sldId xmlns:r="http://schemas.openxmlformats.org/officeDocument/2006/relationships" id="269" r:id="R92f451b7cce945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0212c85ecb4356" /><Relationship Type="http://schemas.openxmlformats.org/officeDocument/2006/relationships/slideMaster" Target="/ppt/slideMasters/slideMaster1.xml" Id="R04d6ce37856f48fa" /><Relationship Type="http://schemas.openxmlformats.org/officeDocument/2006/relationships/notesMaster" Target="/ppt/notesMasters/notesMaster1.xml" Id="R6b83e715ce9949be" /><Relationship Type="http://schemas.openxmlformats.org/officeDocument/2006/relationships/presProps" Target="/ppt/presProps.xml" Id="R8a5952be10a64fa2" /><Relationship Type="http://schemas.openxmlformats.org/officeDocument/2006/relationships/tableStyles" Target="/ppt/tableStyles.xml" Id="R2dfdafafbab94189" /><Relationship Type="http://schemas.openxmlformats.org/officeDocument/2006/relationships/slide" Target="/ppt/slides/slide1.xml" Id="Re68e81f15eca427d" /><Relationship Type="http://schemas.openxmlformats.org/officeDocument/2006/relationships/slide" Target="/ppt/slides/slide2.xml" Id="R4fbd2afe0f394c6b" /><Relationship Type="http://schemas.openxmlformats.org/officeDocument/2006/relationships/slide" Target="/ppt/slides/slide3.xml" Id="Rccb8fbbdc8904b43" /><Relationship Type="http://schemas.openxmlformats.org/officeDocument/2006/relationships/slide" Target="/ppt/slides/slide4.xml" Id="R6e7c7a78856b403a" /><Relationship Type="http://schemas.openxmlformats.org/officeDocument/2006/relationships/slide" Target="/ppt/slides/slide5.xml" Id="R2cdf0f5f9c98401f" /><Relationship Type="http://schemas.openxmlformats.org/officeDocument/2006/relationships/slide" Target="/ppt/slides/slide6.xml" Id="R2fdc1df3fcdf4cd5" /><Relationship Type="http://schemas.openxmlformats.org/officeDocument/2006/relationships/slide" Target="/ppt/slides/slide7.xml" Id="R1cb334e467ac491c" /><Relationship Type="http://schemas.openxmlformats.org/officeDocument/2006/relationships/slide" Target="/ppt/slides/slide8.xml" Id="Rc33b025888904185" /><Relationship Type="http://schemas.openxmlformats.org/officeDocument/2006/relationships/slide" Target="/ppt/slides/slide9.xml" Id="R41d32b6ab2274164" /><Relationship Type="http://schemas.openxmlformats.org/officeDocument/2006/relationships/slide" Target="/ppt/slides/slide10.xml" Id="R2fceb2be34bf489b" /><Relationship Type="http://schemas.openxmlformats.org/officeDocument/2006/relationships/slide" Target="/ppt/slides/slide11.xml" Id="Rd1fb5ecb57514847" /><Relationship Type="http://schemas.openxmlformats.org/officeDocument/2006/relationships/slide" Target="/ppt/slides/slide12.xml" Id="R6fddcf0a82f54c96" /><Relationship Type="http://schemas.openxmlformats.org/officeDocument/2006/relationships/slide" Target="/ppt/slides/slide13.xml" Id="Rb8ab8a41024a40c8" /><Relationship Type="http://schemas.openxmlformats.org/officeDocument/2006/relationships/slide" Target="/ppt/slides/slide14.xml" Id="R92f451b7cce945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e261c02b694d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6e32833e464dfe" /><Relationship Type="http://schemas.openxmlformats.org/officeDocument/2006/relationships/notesMaster" Target="/ppt/notesMasters/notesMaster1.xml" Id="R410b7507ec3f49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a8e47c1c104e1a" /><Relationship Type="http://schemas.openxmlformats.org/officeDocument/2006/relationships/notesMaster" Target="/ppt/notesMasters/notesMaster1.xml" Id="Rc64fd59498024e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7d21a838c94edc" /><Relationship Type="http://schemas.openxmlformats.org/officeDocument/2006/relationships/notesMaster" Target="/ppt/notesMasters/notesMaster1.xml" Id="Rc84b2c118a6a47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e8f6e86c1a424a" /><Relationship Type="http://schemas.openxmlformats.org/officeDocument/2006/relationships/notesMaster" Target="/ppt/notesMasters/notesMaster1.xml" Id="Rd5bfa749c09146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43e486987b4875" /><Relationship Type="http://schemas.openxmlformats.org/officeDocument/2006/relationships/notesMaster" Target="/ppt/notesMasters/notesMaster1.xml" Id="Rf0ca70680e5446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8ebf40ed734b16" /><Relationship Type="http://schemas.openxmlformats.org/officeDocument/2006/relationships/notesMaster" Target="/ppt/notesMasters/notesMaster1.xml" Id="Rbbb4e35ebb7a47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a908229e5341ab" /><Relationship Type="http://schemas.openxmlformats.org/officeDocument/2006/relationships/notesMaster" Target="/ppt/notesMasters/notesMaster1.xml" Id="R7b4e601ea2764e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74209d545f489f" /><Relationship Type="http://schemas.openxmlformats.org/officeDocument/2006/relationships/notesMaster" Target="/ppt/notesMasters/notesMaster1.xml" Id="R270c616cd87442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4620d95ff24bc6" /><Relationship Type="http://schemas.openxmlformats.org/officeDocument/2006/relationships/notesMaster" Target="/ppt/notesMasters/notesMaster1.xml" Id="R03d01fd92d9d44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70343791cb4ebc" /><Relationship Type="http://schemas.openxmlformats.org/officeDocument/2006/relationships/notesMaster" Target="/ppt/notesMasters/notesMaster1.xml" Id="Reab68daea7124b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ce11b1a92e4df9" /><Relationship Type="http://schemas.openxmlformats.org/officeDocument/2006/relationships/notesMaster" Target="/ppt/notesMasters/notesMaster1.xml" Id="R3e5a37acc5bb4c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0d850470e841fe" /><Relationship Type="http://schemas.openxmlformats.org/officeDocument/2006/relationships/notesMaster" Target="/ppt/notesMasters/notesMaster1.xml" Id="Ree7ce23b5a4b43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12c3c11e6d43b7" /><Relationship Type="http://schemas.openxmlformats.org/officeDocument/2006/relationships/notesMaster" Target="/ppt/notesMasters/notesMaster1.xml" Id="R81a94859527642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7bb6a2f81044d1" /><Relationship Type="http://schemas.openxmlformats.org/officeDocument/2006/relationships/notesMaster" Target="/ppt/notesMasters/notesMaster1.xml" Id="R486425861e4442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 about 1 minute</a:t>
            </a:r>
          </a:p>
          <a:p xmlns:a="http://schemas.openxmlformats.org/drawingml/2006/main">
            <a:r>
              <a:t>“Today I am showing you the commodity trading module, which was my masterpiece. The title is ‘When the Standard Way Isn’t Enough’ because Odoo already handles purchases, sales, stock and accounting very well. The challenge appeared when the business wanted to see those separate events as one commodity trade. I built a central Trade record that connects them and keeps the commercial position and profit visible as the transaction changes.”</a:t>
            </a:r>
          </a:p>
          <a:p xmlns:a="http://schemas.openxmlformats.org/drawingml/2006/main">
            <a:r>
              <a:t/>
            </a:r>
          </a:p>
          <a:p xmlns:a="http://schemas.openxmlformats.org/drawingml/2006/main">
            <a:r>
              <a:t>Set the expectation that this is a product story and a live walkthrough, not a tour of every Odoo menu.</a:t>
            </a:r>
          </a:p>
          <a:p xmlns:a="http://schemas.openxmlformats.org/drawingml/2006/main">
            <a:r>
              <a:t/>
            </a:r>
          </a:p>
          <a:p xmlns:a="http://schemas.openxmlformats.org/drawingml/2006/main">
            <a:r>
              <a:t>Source: module documentation and implementation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 | about 45 seconds</a:t>
            </a:r>
          </a:p>
          <a:p xmlns:a="http://schemas.openxmlformats.org/drawingml/2006/main">
            <a:r>
              <a:t>“I will begin with commodity trading in plain language, because the room does not need trading knowledge. Then I will explain the gap in the standard flow and the product decision behind the Trade record. After that, I will cover the lifecycle, calculations, currency, inventory, optional budgets and the technical integration. I will finish in Odoo with a complete trade journey from purchase activity to the final result.”</a:t>
            </a:r>
          </a:p>
          <a:p xmlns:a="http://schemas.openxmlformats.org/drawingml/2006/main">
            <a:r>
              <a:t/>
            </a:r>
          </a:p>
          <a:p xmlns:a="http://schemas.openxmlformats.org/drawingml/2006/main">
            <a:r>
              <a:t>Transition: “First, what does a commodity trader actually need to 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COMMODITY TRADING | about 1 minute</a:t>
            </a:r>
          </a:p>
          <a:p xmlns:a="http://schemas.openxmlformats.org/drawingml/2006/main">
            <a:r>
              <a:t>“Commodity trading means buying and selling physical goods such as coffee, cocoa, grain or fuel while prices and currencies can change. A company may buy one batch and sell it in parts, to different customers, on different days. That creates a position: the quantity purchased but not yet sold, or the quantity sold but not yet covered by a purchase. The business needs one answer for the completed part and another for the part that remains exposed.”</a:t>
            </a:r>
          </a:p>
          <a:p xmlns:a="http://schemas.openxmlformats.org/drawingml/2006/main">
            <a:r>
              <a:t/>
            </a:r>
          </a:p>
          <a:p xmlns:a="http://schemas.openxmlformats.org/drawingml/2006/main">
            <a:r>
              <a:t>Use the example on screen: “If we buy 100 units and sell 40, 40 units have a realized result and 60 units remain open.”</a:t>
            </a:r>
          </a:p>
          <a:p xmlns:a="http://schemas.openxmlformats.org/drawingml/2006/main">
            <a:r>
              <a:t/>
            </a:r>
          </a:p>
          <a:p xmlns:a="http://schemas.openxmlformats.org/drawingml/2006/main">
            <a:r>
              <a:t>Transition: “Odoo records every document, so why was another module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PRODUCT WAS NECESSARY | about 1 minute 30 seconds</a:t>
            </a:r>
          </a:p>
          <a:p xmlns:a="http://schemas.openxmlformats.org/drawingml/2006/main">
            <a:r>
              <a:t>“Standard Odoo gives us reliable operational documents. Purchase records the buy, Sales records the sell, Inventory records physical movement, and Accounting records bills and invoices. Analytic accounts can group accounting amounts that users allocate to them. Those tools answer their own questions well.”</a:t>
            </a:r>
          </a:p>
          <a:p xmlns:a="http://schemas.openxmlformats.org/drawingml/2006/main">
            <a:r>
              <a:t/>
            </a:r>
          </a:p>
          <a:p xmlns:a="http://schemas.openxmlformats.org/drawingml/2006/main">
            <a:r>
              <a:t>“The missing piece was a live trade position assembled from all those documents. We needed to know how much of a specific deal was bought, sold, still open, physically on hand and profitable without manually combining several reports. An analytic account can group attributed money, but it does not calculate a commodity position from order quantities or match the bought and sold legs of a trade.”</a:t>
            </a:r>
          </a:p>
          <a:p xmlns:a="http://schemas.openxmlformats.org/drawingml/2006/main">
            <a:r>
              <a:t/>
            </a:r>
          </a:p>
          <a:p xmlns:a="http://schemas.openxmlformats.org/drawingml/2006/main">
            <a:r>
              <a:t>Transition: “The product decision was to introduce one connecting record.”</a:t>
            </a:r>
          </a:p>
          <a:p xmlns:a="http://schemas.openxmlformats.org/drawingml/2006/main">
            <a:r>
              <a:t/>
            </a:r>
          </a:p>
          <a:p xmlns:a="http://schemas.openxmlformats.org/drawingml/2006/main">
            <a:r>
              <a:t>Sources: product/commodity_trading/ele_trading/README.md, sections 1 and 2. Odoo analytic accounting documentation: https://www.odoo.com/documentation/19.0/applications/finance/accounting/reporting/analytic_accounting.html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TRADE RECORD | about 1 minute 30 seconds</a:t>
            </a:r>
          </a:p>
          <a:p xmlns:a="http://schemas.openxmlformats.org/drawingml/2006/main">
            <a:r>
              <a:t>“The Trade is the centre of the module, but users still work through familiar Odoo documents. When a purchase order is confirmed, the module creates or updates a long Trade. When a sale is confirmed, it links to an eligible Trade or opens a short position. Validated receipts attach stock lots. Posted bills and invoices contribute additional cost or revenue when they relate to the trade.”</a:t>
            </a:r>
          </a:p>
          <a:p xmlns:a="http://schemas.openxmlformats.org/drawingml/2006/main">
            <a:r>
              <a:t/>
            </a:r>
          </a:p>
          <a:p xmlns:a="http://schemas.openxmlformats.org/drawingml/2006/main">
            <a:r>
              <a:t>“The important design principle is that the Trade follows the source documents. A user should not have to copy the same quantity or value into a separate spreadsheet or custom form. The record becomes the place to inspect the whole deal.”</a:t>
            </a:r>
          </a:p>
          <a:p xmlns:a="http://schemas.openxmlformats.org/drawingml/2006/main">
            <a:r>
              <a:t/>
            </a:r>
          </a:p>
          <a:p xmlns:a="http://schemas.openxmlformats.org/drawingml/2006/main">
            <a:r>
              <a:t>Transition: “Once the Trade exists, its direction and status follow clear rules.”</a:t>
            </a:r>
          </a:p>
          <a:p xmlns:a="http://schemas.openxmlformats.org/drawingml/2006/main">
            <a:r>
              <a:t/>
            </a:r>
          </a:p>
          <a:p xmlns:a="http://schemas.openxmlformats.org/drawingml/2006/main">
            <a:r>
              <a:t>Source: product/commodity_trading/ele_trading/README.md, sections 1, 3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 LIFECYCLE | about 1 minute</a:t>
            </a:r>
          </a:p>
          <a:p xmlns:a="http://schemas.openxmlformats.org/drawingml/2006/main">
            <a:r>
              <a:t>“A long trade starts with a purchase. Its open quantity is what we bought less what we have sold. A short trade starts with a sale when there is no matching open purchase trade, so the quantity remains negative until purchases cover it.”</a:t>
            </a:r>
          </a:p>
          <a:p xmlns:a="http://schemas.openxmlformats.org/drawingml/2006/main">
            <a:r>
              <a:t/>
            </a:r>
          </a:p>
          <a:p xmlns:a="http://schemas.openxmlformats.org/drawingml/2006/main">
            <a:r>
              <a:t>“The state is driven by matching. An open trade still has exposure. A partial trade has some matched quantity and some remaining exposure. A completed long trade closes when the confirmed sold quantity matches the confirmed purchased quantity. This prevents a trade from being called closed simply because someone changed a label.”</a:t>
            </a:r>
          </a:p>
          <a:p xmlns:a="http://schemas.openxmlformats.org/drawingml/2006/main">
            <a:r>
              <a:t/>
            </a:r>
          </a:p>
          <a:p xmlns:a="http://schemas.openxmlformats.org/drawingml/2006/main">
            <a:r>
              <a:t>Transition: “The state tells us where we are; the calculations tell us what it means financially.”</a:t>
            </a:r>
          </a:p>
          <a:p xmlns:a="http://schemas.openxmlformats.org/drawingml/2006/main">
            <a:r>
              <a:t/>
            </a:r>
          </a:p>
          <a:p xmlns:a="http://schemas.openxmlformats.org/drawingml/2006/main">
            <a:r>
              <a:t>Source: product/commodity_trading/ele_trading/README.md, sections 4 to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CALCULATIONS | about 1 minute 30 seconds</a:t>
            </a:r>
          </a:p>
          <a:p xmlns:a="http://schemas.openxmlformats.org/drawingml/2006/main">
            <a:r>
              <a:t>“There are four measures, and each answers a separate question. Open position is the quantity still exposed. Realized P&amp;L is the result on the matched quantity that has both a purchase and a sale. Unrealized P&amp;L estimates the result on the open quantity using the current market price. Total P&amp;L combines the realized and unrealized results, adds additional revenue and subtracts additional costs.”</a:t>
            </a:r>
          </a:p>
          <a:p xmlns:a="http://schemas.openxmlformats.org/drawingml/2006/main">
            <a:r>
              <a:t/>
            </a:r>
          </a:p>
          <a:p xmlns:a="http://schemas.openxmlformats.org/drawingml/2006/main">
            <a:r>
              <a:t>“Keeping these measures separate matters. A profitable completed sale does not tell us whether the unsold balance has gained or lost value. The total brings both parts together while preserving the explanation.”</a:t>
            </a:r>
          </a:p>
          <a:p xmlns:a="http://schemas.openxmlformats.org/drawingml/2006/main">
            <a:r>
              <a:t/>
            </a:r>
          </a:p>
          <a:p xmlns:a="http://schemas.openxmlformats.org/drawingml/2006/main">
            <a:r>
              <a:t>Transition: “A simple example makes the distinction concrete.”</a:t>
            </a:r>
          </a:p>
          <a:p xmlns:a="http://schemas.openxmlformats.org/drawingml/2006/main">
            <a:r>
              <a:t/>
            </a:r>
          </a:p>
          <a:p xmlns:a="http://schemas.openxmlformats.org/drawingml/2006/main">
            <a:r>
              <a:t>Source: product/commodity_trading/ele_trading/README.md, sections 5 and 6. Market price is entered by a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 about 1 minute 30 seconds</a:t>
            </a:r>
          </a:p>
          <a:p xmlns:a="http://schemas.openxmlformats.org/drawingml/2006/main">
            <a:r>
              <a:t>“We buy 100 units at 10, so the original purchase cost is 1,000. We sell 40 units at 14, giving sales value of 560. The matched 40 units make a realized profit of 160 because the margin is 4 per unit.”</a:t>
            </a:r>
          </a:p>
          <a:p xmlns:a="http://schemas.openxmlformats.org/drawingml/2006/main">
            <a:r>
              <a:t/>
            </a:r>
          </a:p>
          <a:p xmlns:a="http://schemas.openxmlformats.org/drawingml/2006/main">
            <a:r>
              <a:t>“We still hold an open position of 60. If the current market price is 12, those units carry an unrealized profit of 120. The trade therefore shows total P&amp;L of 280 before any additional costs or revenue. This is the view we could not get by looking at the purchase or sale alone.”</a:t>
            </a:r>
          </a:p>
          <a:p xmlns:a="http://schemas.openxmlformats.org/drawingml/2006/main">
            <a:r>
              <a:t/>
            </a:r>
          </a:p>
          <a:p xmlns:a="http://schemas.openxmlformats.org/drawingml/2006/main">
            <a:r>
              <a:t>Transition: “Real trades also involve different currencies and later financial documents.”</a:t>
            </a:r>
          </a:p>
          <a:p xmlns:a="http://schemas.openxmlformats.org/drawingml/2006/main">
            <a:r>
              <a:t/>
            </a:r>
          </a:p>
          <a:p xmlns:a="http://schemas.openxmlformats.org/drawingml/2006/main">
            <a:r>
              <a:t>Illustrative arithmetic. Formula basis: ele_trading README,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CURRENCY AND FINANCIAL EVENTS | about 1 minute 15 seconds</a:t>
            </a:r>
          </a:p>
          <a:p xmlns:a="http://schemas.openxmlformats.org/drawingml/2006/main">
            <a:r>
              <a:t>“The module converts each transaction using the exchange rate for that transaction date. That allows one Trade to contain a purchase in euros, a sale in dollars and reporting in Kenya shillings. When several sales occur at different rates, their reporting values blend correctly.”</a:t>
            </a:r>
          </a:p>
          <a:p xmlns:a="http://schemas.openxmlformats.org/drawingml/2006/main">
            <a:r>
              <a:t/>
            </a:r>
          </a:p>
          <a:p xmlns:a="http://schemas.openxmlformats.org/drawingml/2006/main">
            <a:r>
              <a:t>“Additional amounts come from actual posted documents beyond the original buy and sell. Freight, inspection or repackaging can arrive through a vendor bill or expense. A quality premium can arrive through a customer invoice. If a linked invoice returns to draft or is removed, the contribution reverses so the Trade stays tied to document lifecycle.”</a:t>
            </a:r>
          </a:p>
          <a:p xmlns:a="http://schemas.openxmlformats.org/drawingml/2006/main">
            <a:r>
              <a:t/>
            </a:r>
          </a:p>
          <a:p xmlns:a="http://schemas.openxmlformats.org/drawingml/2006/main">
            <a:r>
              <a:t>Transition: “Money and physical stock also describe different aspects of the trade.”</a:t>
            </a:r>
          </a:p>
          <a:p xmlns:a="http://schemas.openxmlformats.org/drawingml/2006/main">
            <a:r>
              <a:t/>
            </a:r>
          </a:p>
          <a:p xmlns:a="http://schemas.openxmlformats.org/drawingml/2006/main">
            <a:r>
              <a:t>Source: product/commodity_trading/ele_trading/README.md, sections 4, 6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POSITION AND STOCK | about 1 minute</a:t>
            </a:r>
          </a:p>
          <a:p xmlns:a="http://schemas.openxmlformats.org/drawingml/2006/main">
            <a:r>
              <a:t>“Open position comes from confirmed purchase and sale quantities. On hand comes from stock lots connected through validated receipts and deliveries. These quantities can differ legitimately.”</a:t>
            </a:r>
          </a:p>
          <a:p xmlns:a="http://schemas.openxmlformats.org/drawingml/2006/main">
            <a:r>
              <a:t/>
            </a:r>
          </a:p>
          <a:p xmlns:a="http://schemas.openxmlformats.org/drawingml/2006/main">
            <a:r>
              <a:t>“For example, we may have confirmed a purchase before the goods arrive, so the commercial position exists while on hand is zero. At the other end, a fully delivered closed trade can have a linked lot and zero on hand because all stock has left. The lot preserves traceability; zero on hand describes the current physical balance.”</a:t>
            </a:r>
          </a:p>
          <a:p xmlns:a="http://schemas.openxmlformats.org/drawingml/2006/main">
            <a:r>
              <a:t/>
            </a:r>
          </a:p>
          <a:p xmlns:a="http://schemas.openxmlformats.org/drawingml/2006/main">
            <a:r>
              <a:t>Transition: “Around this core, the module adds optional planning and reporting.”</a:t>
            </a:r>
          </a:p>
          <a:p xmlns:a="http://schemas.openxmlformats.org/drawingml/2006/main">
            <a:r>
              <a:t/>
            </a:r>
          </a:p>
          <a:p xmlns:a="http://schemas.openxmlformats.org/drawingml/2006/main">
            <a:r>
              <a:t>Source: product/commodity_trading/ele_trading/README.md,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CAPABILITIES AND ROADMAP | about 1 minute 15 seconds</a:t>
            </a:r>
          </a:p>
          <a:p xmlns:a="http://schemas.openxmlformats.org/drawingml/2006/main">
            <a:r>
              <a:t>“The optional budget focuses on additional cost and additional revenue, not the original purchase and sale values. Posted freight, inspection, repackaging or a customer premium can feed the budget from bills, invoices and expenses. Once the trade is fully matched, the budget can show the variance and final view.”</a:t>
            </a:r>
          </a:p>
          <a:p xmlns:a="http://schemas.openxmlformats.org/drawingml/2006/main">
            <a:r>
              <a:t/>
            </a:r>
          </a:p>
          <a:p xmlns:a="http://schemas.openxmlformats.org/drawingml/2006/main">
            <a:r>
              <a:t>“Reporting uses Odoo list, Kanban, graph and pivot views so teams can filter by trade status and profitability. Analytic account integration is planned; the field is hidden in this demo until the transaction level relationship is implemented correctly. Futures and contract level delivery balances also remain roadmap items, so I will not present them as current functionality.”</a:t>
            </a:r>
          </a:p>
          <a:p xmlns:a="http://schemas.openxmlformats.org/drawingml/2006/main">
            <a:r>
              <a:t/>
            </a:r>
          </a:p>
          <a:p xmlns:a="http://schemas.openxmlformats.org/drawingml/2006/main">
            <a:r>
              <a:t>Transition: “For the technical audience, here is where the behaviour enters Odoo.”</a:t>
            </a:r>
          </a:p>
          <a:p xmlns:a="http://schemas.openxmlformats.org/drawingml/2006/main">
            <a:r>
              <a:t/>
            </a:r>
          </a:p>
          <a:p xmlns:a="http://schemas.openxmlformats.org/drawingml/2006/main">
            <a:r>
              <a:t>Sources: ele_trading README, sections 8 and 10; ele_trading_budget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DESIGN | about 1 minute 30 seconds</a:t>
            </a:r>
          </a:p>
          <a:p xmlns:a="http://schemas.openxmlformats.org/drawingml/2006/main">
            <a:r>
              <a:t>“The core model is trading.trade. The module extends standard Odoo models with a Trade link and hooks into their normal lifecycle. Purchase confirmation creates or updates the purchase side. Sale confirmation finds or creates the sales side. Accounting posting, reset and deletion manage financial contributions. Stock validation connects lots and updates physical quantity.”</a:t>
            </a:r>
          </a:p>
          <a:p xmlns:a="http://schemas.openxmlformats.org/drawingml/2006/main">
            <a:r>
              <a:t/>
            </a:r>
          </a:p>
          <a:p xmlns:a="http://schemas.openxmlformats.org/drawingml/2006/main">
            <a:r>
              <a:t>“The position and P&amp;L fields are stored computed fields. That choice makes them available to Odoo views, filters and reports while keeping the calculation logic centralized. The value of this design is traceability: when a number changes, we can follow it back to an order, stock movement, bill or invoice.”</a:t>
            </a:r>
          </a:p>
          <a:p xmlns:a="http://schemas.openxmlformats.org/drawingml/2006/main">
            <a:r>
              <a:t/>
            </a:r>
          </a:p>
          <a:p xmlns:a="http://schemas.openxmlformats.org/drawingml/2006/main">
            <a:r>
              <a:t>Transition: “Now I will show those relationships in the prepared data.”</a:t>
            </a:r>
          </a:p>
          <a:p xmlns:a="http://schemas.openxmlformats.org/drawingml/2006/main">
            <a:r>
              <a:t/>
            </a:r>
          </a:p>
          <a:p xmlns:a="http://schemas.openxmlformats.org/drawingml/2006/main">
            <a:r>
              <a:t>Implementation references: models/purchase_order.py, sale_order.py, account_move_lifecycle.py, stock_picking.py and trading_trade_pnl.py.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ODOO WALKTHROUGH | about 7 minutes</a:t>
            </a:r>
          </a:p>
          <a:p xmlns:a="http://schemas.openxmlformats.org/drawingml/2006/main">
            <a:r>
              <a:t/>
            </a:r>
          </a:p>
          <a:p xmlns:a="http://schemas.openxmlformats.org/drawingml/2006/main">
            <a:r>
              <a:t>0:00–1:00 — Trade board</a:t>
            </a:r>
          </a:p>
          <a:p xmlns:a="http://schemas.openxmlformats.org/drawingml/2006/main">
            <a:r>
              <a:t>“Here are three prepared scenarios. Coffee is open because it is purchased and unsold. Cashew is partial because part of the quantity has been sold. Shea is closed because purchase and sale quantities match. The statuses therefore describe position, not manual completion.”</a:t>
            </a:r>
          </a:p>
          <a:p xmlns:a="http://schemas.openxmlformats.org/drawingml/2006/main">
            <a:r>
              <a:t/>
            </a:r>
          </a:p>
          <a:p xmlns:a="http://schemas.openxmlformats.org/drawingml/2006/main">
            <a:r>
              <a:t>1:00–3:15 — Open the partial Cashew trade</a:t>
            </a:r>
          </a:p>
          <a:p xmlns:a="http://schemas.openxmlformats.org/drawingml/2006/main">
            <a:r>
              <a:t>“On this record, the purchase quantity is 100 and the sold quantity is 60, so 40 remains open. I can move from the Trade to the linked purchase and sale documents. The transaction currencies can differ, while the summary reports in the company currency. The lot connects the commercial trade to the physical stock. On hand is 40 here because that balance remains in inventory.”</a:t>
            </a:r>
          </a:p>
          <a:p xmlns:a="http://schemas.openxmlformats.org/drawingml/2006/main">
            <a:r>
              <a:t/>
            </a:r>
          </a:p>
          <a:p xmlns:a="http://schemas.openxmlformats.org/drawingml/2006/main">
            <a:r>
              <a:t>3:15–4:45 — Explain the financial summary</a:t>
            </a:r>
          </a:p>
          <a:p xmlns:a="http://schemas.openxmlformats.org/drawingml/2006/main">
            <a:r>
              <a:t>“The sold cost basis belongs to the 60 matched units. Realized P&amp;L belongs to that sold portion. The market price values the remaining 40 and produces unrealized P&amp;L. Total P&amp;L combines both and then includes additional revenue less additional costs.”</a:t>
            </a:r>
          </a:p>
          <a:p xmlns:a="http://schemas.openxmlformats.org/drawingml/2006/main">
            <a:r>
              <a:t/>
            </a:r>
          </a:p>
          <a:p xmlns:a="http://schemas.openxmlformats.org/drawingml/2006/main">
            <a:r>
              <a:t>4:45–6:00 — Open Additional Costs and Revenue</a:t>
            </a:r>
          </a:p>
          <a:p xmlns:a="http://schemas.openxmlformats.org/drawingml/2006/main">
            <a:r>
              <a:t>“This is separate from the core purchase and sale. The additional cost comes from a posted vendor bill, such as freight or inspection. The additional revenue comes from a posted customer invoice, such as a quality premium. These are actual accounting documents, so we can trace the value and its status. The optional budget collects those extra amounts and gives us a final variance view.”</a:t>
            </a:r>
          </a:p>
          <a:p xmlns:a="http://schemas.openxmlformats.org/drawingml/2006/main">
            <a:r>
              <a:t/>
            </a:r>
          </a:p>
          <a:p xmlns:a="http://schemas.openxmlformats.org/drawingml/2006/main">
            <a:r>
              <a:t>6:00–7:00 — Compare the closed Shea trade and reporting</a:t>
            </a:r>
          </a:p>
          <a:p xmlns:a="http://schemas.openxmlformats.org/drawingml/2006/main">
            <a:r>
              <a:t>“On the closed trade, bought and sold quantities match and the open position is zero. On hand is also zero because the goods have been delivered. The lot remains linked for traceability. The Trade still shows the sold cost basis and nonzero final profit. I will finish on the reporting view to show that these stored measures can be filtered and analysed across trades.”</a:t>
            </a:r>
          </a:p>
          <a:p xmlns:a="http://schemas.openxmlformats.org/drawingml/2006/main">
            <a:r>
              <a:t/>
            </a:r>
          </a:p>
          <a:p xmlns:a="http://schemas.openxmlformats.org/drawingml/2006/main">
            <a:r>
              <a:t>If time is short, skip the Coffee detail and show Cashew plus Shea.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 about 45 seconds</a:t>
            </a:r>
          </a:p>
          <a:p xmlns:a="http://schemas.openxmlformats.org/drawingml/2006/main">
            <a:r>
              <a:t>“The standard Odoo flow still performs the transactions. This module gives those transactions a trade context. From one record, the team can see what was bought, what was sold, what remains exposed, what is physically on hand, which extra financial documents belong to the deal and what the current result is.”</a:t>
            </a:r>
          </a:p>
          <a:p xmlns:a="http://schemas.openxmlformats.org/drawingml/2006/main">
            <a:r>
              <a:t/>
            </a:r>
          </a:p>
          <a:p xmlns:a="http://schemas.openxmlformats.org/drawingml/2006/main">
            <a:r>
              <a:t>“That is the meaning of the title. The standard way was enough to process each event, but the commodity business needed the whole story of the trade.”</a:t>
            </a:r>
          </a:p>
          <a:p xmlns:a="http://schemas.openxmlformats.org/drawingml/2006/main">
            <a:r>
              <a:t/>
            </a:r>
          </a:p>
          <a:p xmlns:a="http://schemas.openxmlformats.org/drawingml/2006/main">
            <a:r>
              <a:t>Close with: “That was my masterpiece: one Trade record that makes the complete commodity position visible and traceable.”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0a3b33a91e4d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ed1bc69b6f4aa0" /><Relationship Type="http://schemas.openxmlformats.org/officeDocument/2006/relationships/slideLayout" Target="/ppt/slideLayouts/slideLayout1.xml" Id="R2996b4b8c42a46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96b4b8c42a46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acca22750d4cf7" /><Relationship Type="http://schemas.openxmlformats.org/officeDocument/2006/relationships/notesSlide" Target="/ppt/notesSlides/notesSlide1.xml" Id="R4f5014126f8745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ba9beadcef478f" /><Relationship Type="http://schemas.openxmlformats.org/officeDocument/2006/relationships/notesSlide" Target="/ppt/notesSlides/notesSlide2.xml" Id="R294c92303584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3ff33cec8b434c" /><Relationship Type="http://schemas.openxmlformats.org/officeDocument/2006/relationships/notesSlide" Target="/ppt/notesSlides/notesSlide3.xml" Id="Ra81e604352804b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33aae84ce34f00" /><Relationship Type="http://schemas.openxmlformats.org/officeDocument/2006/relationships/notesSlide" Target="/ppt/notesSlides/notesSlide4.xml" Id="R3a0f3ed1439645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2a3f0d85e94f61" /><Relationship Type="http://schemas.openxmlformats.org/officeDocument/2006/relationships/notesSlide" Target="/ppt/notesSlides/notesSlide5.xml" Id="Ra748d17fda0847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bc9b4651a442c1" /><Relationship Type="http://schemas.openxmlformats.org/officeDocument/2006/relationships/notesSlide" Target="/ppt/notesSlides/notesSlide6.xml" Id="R7aabfd9904dc4f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b52f8cdde444b5" /><Relationship Type="http://schemas.openxmlformats.org/officeDocument/2006/relationships/notesSlide" Target="/ppt/notesSlides/notesSlide7.xml" Id="R1e7b23633e8a4d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ecdb1e0a2b4a60" /><Relationship Type="http://schemas.openxmlformats.org/officeDocument/2006/relationships/notesSlide" Target="/ppt/notesSlides/notesSlide8.xml" Id="R9efee0d225ca47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ec82078fd74c29" /><Relationship Type="http://schemas.openxmlformats.org/officeDocument/2006/relationships/notesSlide" Target="/ppt/notesSlides/notesSlide9.xml" Id="Rb8f0ad7ea9c842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dc2e6276b54c36" /><Relationship Type="http://schemas.openxmlformats.org/officeDocument/2006/relationships/notesSlide" Target="/ppt/notesSlides/notesSlide10.xml" Id="R98327048a224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56384ed1b94a23" /><Relationship Type="http://schemas.openxmlformats.org/officeDocument/2006/relationships/notesSlide" Target="/ppt/notesSlides/notesSlide11.xml" Id="R58c6344139fa46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78f711863048f2" /><Relationship Type="http://schemas.openxmlformats.org/officeDocument/2006/relationships/notesSlide" Target="/ppt/notesSlides/notesSlide12.xml" Id="R107b1472fbe94c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58274affec49e9" /><Relationship Type="http://schemas.openxmlformats.org/officeDocument/2006/relationships/notesSlide" Target="/ppt/notesSlides/notesSlide13.xml" Id="R9ce3e9a5f7ac43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f8fe89ce824602" /><Relationship Type="http://schemas.openxmlformats.org/officeDocument/2006/relationships/notesSlide" Target="/ppt/notesSlides/notesSlide14.xml" Id="Re73dc89586b74cf4" /></Relationships>
</file>

<file path=ppt/slides/slide1.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2BB11E-FCBB-4217-AE08-E3B56335C7A2}"/>
              </a:ext>
            </a:extLst>
          </p:cNvPr>
          <p:cNvSpPr>
            <a:spLocks xmlns:a="http://schemas.openxmlformats.org/drawingml/2006/main" noGrp="1"/>
          </p:cNvSpPr>
          <p:nvPr/>
        </p:nvSpPr>
        <p:spPr>
          <a:xfrm xmlns:a="http://schemas.openxmlformats.org/drawingml/2006/main">
            <a:off x="781050" y="5715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DAB29D"/>
                </a:solidFill>
                <a:latin typeface="Arial"/>
                <a:ea typeface="Arial"/>
                <a:cs typeface="Arial"/>
              </a:defRPr>
            </a:pPr>
            <a:r>
              <a:rPr sz="1425" b="1">
                <a:solidFill>
                  <a:srgbClr val="DAB29D"/>
                </a:solidFill>
                <a:latin typeface="Arial"/>
                <a:ea typeface="Arial"/>
                <a:cs typeface="Arial"/>
              </a:rPr>
              <a:t>AN ODOO PRODUCT STORY</a:t>
            </a:r>
          </a:p>
        </p:txBody>
      </p:sp>
      <p:sp>
        <p:nvSpPr>
          <p:cNvPr id="2" name="">
            <a:extLst xmlns:a="http://schemas.openxmlformats.org/drawingml/2006/main">
              <a:ext uri="{FF2B5EF4-FFF2-40B4-BE49-F238E27FC236}">
                <a16:creationId xmlns:a16="http://schemas.microsoft.com/office/drawing/2014/main" id="{DF3FDCCA-03A3-4198-9638-2BD102361139}"/>
              </a:ext>
            </a:extLst>
          </p:cNvPr>
          <p:cNvSpPr>
            <a:spLocks xmlns:a="http://schemas.openxmlformats.org/drawingml/2006/main" noGrp="1"/>
          </p:cNvSpPr>
          <p:nvPr/>
        </p:nvSpPr>
        <p:spPr>
          <a:xfrm xmlns:a="http://schemas.openxmlformats.org/drawingml/2006/main">
            <a:off x="762000" y="1381125"/>
            <a:ext cx="10668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FFFFF"/>
                </a:solidFill>
                <a:latin typeface="Georgia"/>
                <a:ea typeface="Georgia"/>
                <a:cs typeface="Georgia"/>
              </a:defRPr>
            </a:pPr>
            <a:r>
              <a:rPr sz="4800" b="0">
                <a:solidFill>
                  <a:srgbClr val="FFFFFF"/>
                </a:solidFill>
                <a:latin typeface="Georgia"/>
                <a:ea typeface="Georgia"/>
                <a:cs typeface="Georgia"/>
              </a:rPr>
              <a:t>When the Standard Way</a:t>
            </a:r>
          </a:p>
          <a:p xmlns:a="http://schemas.openxmlformats.org/drawingml/2006/main">
            <a:pPr>
              <a:buNone/>
              <a:defRPr sz="4800" b="0">
                <a:solidFill>
                  <a:srgbClr val="FFFFFF"/>
                </a:solidFill>
                <a:latin typeface="Georgia"/>
                <a:ea typeface="Georgia"/>
                <a:cs typeface="Georgia"/>
              </a:defRPr>
            </a:pPr>
            <a:r>
              <a:rPr sz="4800" b="0">
                <a:solidFill>
                  <a:srgbClr val="FFFFFF"/>
                </a:solidFill>
                <a:latin typeface="Georgia"/>
                <a:ea typeface="Georgia"/>
                <a:cs typeface="Georgia"/>
              </a:rPr>
              <a:t>Isn't Enough:</a:t>
            </a:r>
          </a:p>
          <a:p xmlns:a="http://schemas.openxmlformats.org/drawingml/2006/main">
            <a:pPr>
              <a:buNone/>
              <a:defRPr sz="4800" b="0">
                <a:solidFill>
                  <a:srgbClr val="FFFFFF"/>
                </a:solidFill>
                <a:latin typeface="Georgia"/>
                <a:ea typeface="Georgia"/>
                <a:cs typeface="Georgia"/>
              </a:defRPr>
            </a:pPr>
            <a:r>
              <a:rPr sz="4800" b="0">
                <a:solidFill>
                  <a:srgbClr val="FFFFFF"/>
                </a:solidFill>
                <a:latin typeface="Georgia"/>
                <a:ea typeface="Georgia"/>
                <a:cs typeface="Georgia"/>
              </a:rPr>
              <a:t>An Odoo Story</a:t>
            </a:r>
          </a:p>
        </p:txBody>
      </p:sp>
      <p:sp>
        <p:nvSpPr>
          <p:cNvPr id="3" name="">
            <a:extLst xmlns:a="http://schemas.openxmlformats.org/drawingml/2006/main">
              <a:ext uri="{FF2B5EF4-FFF2-40B4-BE49-F238E27FC236}">
                <a16:creationId xmlns:a16="http://schemas.microsoft.com/office/drawing/2014/main" id="{F35BF248-D8ED-4943-922B-09DAB5FB8CB5}"/>
              </a:ext>
            </a:extLst>
          </p:cNvPr>
          <p:cNvSpPr>
            <a:spLocks xmlns:a="http://schemas.openxmlformats.org/drawingml/2006/main" noGrp="1"/>
          </p:cNvSpPr>
          <p:nvPr/>
        </p:nvSpPr>
        <p:spPr>
          <a:xfrm xmlns:a="http://schemas.openxmlformats.org/drawingml/2006/main">
            <a:off x="800100" y="46386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The commodity trading module</a:t>
            </a:r>
          </a:p>
        </p:txBody>
      </p:sp>
      <p:sp>
        <p:nvSpPr>
          <p:cNvPr id="4" name="">
            <a:extLst xmlns:a="http://schemas.openxmlformats.org/drawingml/2006/main">
              <a:ext uri="{FF2B5EF4-FFF2-40B4-BE49-F238E27FC236}">
                <a16:creationId xmlns:a16="http://schemas.microsoft.com/office/drawing/2014/main" id="{3EC6F6C9-2CC9-4884-9FFC-FB95A8831971}"/>
              </a:ext>
            </a:extLst>
          </p:cNvPr>
          <p:cNvSpPr>
            <a:spLocks xmlns:a="http://schemas.openxmlformats.org/drawingml/2006/main" noGrp="1"/>
          </p:cNvSpPr>
          <p:nvPr/>
        </p:nvSpPr>
        <p:spPr>
          <a:xfrm xmlns:a="http://schemas.openxmlformats.org/drawingml/2006/main">
            <a:off x="800100" y="59817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DAB29D"/>
                </a:solidFill>
                <a:latin typeface="Arial"/>
                <a:ea typeface="Arial"/>
                <a:cs typeface="Arial"/>
              </a:defRPr>
            </a:pPr>
            <a:r>
              <a:rPr sz="1500" b="0">
                <a:solidFill>
                  <a:srgbClr val="DAB29D"/>
                </a:solidFill>
                <a:latin typeface="Arial"/>
                <a:ea typeface="Arial"/>
                <a:cs typeface="Arial"/>
              </a:rPr>
              <a:t>A complete walkthrough for a mixed audience</a:t>
            </a:r>
          </a:p>
        </p:txBody>
      </p:sp>
    </p:spTree>
    <p:extLst>
      <p:ext uri="{BB962C8B-B14F-4D97-AF65-F5344CB8AC3E}">
        <p14:creationId xmlns:p14="http://schemas.microsoft.com/office/powerpoint/2010/main" val="67101857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3F9FBB-3078-413F-9664-80010BF952D4}"/>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THE ROUTE</a:t>
            </a:r>
          </a:p>
        </p:txBody>
      </p:sp>
      <p:sp>
        <p:nvSpPr>
          <p:cNvPr id="2" name="">
            <a:extLst xmlns:a="http://schemas.openxmlformats.org/drawingml/2006/main">
              <a:ext uri="{FF2B5EF4-FFF2-40B4-BE49-F238E27FC236}">
                <a16:creationId xmlns:a16="http://schemas.microsoft.com/office/drawing/2014/main" id="{2E93E3C5-01F0-4609-9106-9BE267DFAF4A}"/>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Agenda</a:t>
            </a:r>
          </a:p>
        </p:txBody>
      </p:sp>
      <p:sp>
        <p:nvSpPr>
          <p:cNvPr id="3" name="">
            <a:extLst xmlns:a="http://schemas.openxmlformats.org/drawingml/2006/main">
              <a:ext uri="{FF2B5EF4-FFF2-40B4-BE49-F238E27FC236}">
                <a16:creationId xmlns:a16="http://schemas.microsoft.com/office/drawing/2014/main" id="{4C68D51D-8A54-4425-A9C1-0F6519D360C5}"/>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096ADE0-5E4E-41CA-931B-BF75ED799B39}"/>
              </a:ext>
            </a:extLst>
          </p:cNvPr>
          <p:cNvSpPr>
            <a:spLocks xmlns:a="http://schemas.openxmlformats.org/drawingml/2006/main" noGrp="1"/>
          </p:cNvSpPr>
          <p:nvPr/>
        </p:nvSpPr>
        <p:spPr>
          <a:xfrm xmlns:a="http://schemas.openxmlformats.org/drawingml/2006/main">
            <a:off x="809625" y="21907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1  The domain</a:t>
            </a:r>
          </a:p>
        </p:txBody>
      </p:sp>
      <p:sp>
        <p:nvSpPr>
          <p:cNvPr id="5" name="">
            <a:extLst xmlns:a="http://schemas.openxmlformats.org/drawingml/2006/main">
              <a:ext uri="{FF2B5EF4-FFF2-40B4-BE49-F238E27FC236}">
                <a16:creationId xmlns:a16="http://schemas.microsoft.com/office/drawing/2014/main" id="{49540B25-DCAA-4873-AFA5-7D0AB2381567}"/>
              </a:ext>
            </a:extLst>
          </p:cNvPr>
          <p:cNvSpPr>
            <a:spLocks xmlns:a="http://schemas.openxmlformats.org/drawingml/2006/main" noGrp="1"/>
          </p:cNvSpPr>
          <p:nvPr/>
        </p:nvSpPr>
        <p:spPr>
          <a:xfrm xmlns:a="http://schemas.openxmlformats.org/drawingml/2006/main">
            <a:off x="809625" y="27146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Commodity trading and the question the business needs answered.</a:t>
            </a:r>
          </a:p>
        </p:txBody>
      </p:sp>
      <p:sp>
        <p:nvSpPr>
          <p:cNvPr id="6" name="">
            <a:extLst xmlns:a="http://schemas.openxmlformats.org/drawingml/2006/main">
              <a:ext uri="{FF2B5EF4-FFF2-40B4-BE49-F238E27FC236}">
                <a16:creationId xmlns:a16="http://schemas.microsoft.com/office/drawing/2014/main" id="{23C57AA7-65E3-4062-AED6-DBA28FFC1E6A}"/>
              </a:ext>
            </a:extLst>
          </p:cNvPr>
          <p:cNvSpPr>
            <a:spLocks xmlns:a="http://schemas.openxmlformats.org/drawingml/2006/main" noGrp="1"/>
          </p:cNvSpPr>
          <p:nvPr/>
        </p:nvSpPr>
        <p:spPr>
          <a:xfrm xmlns:a="http://schemas.openxmlformats.org/drawingml/2006/main">
            <a:off x="6477000" y="21907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2  The product</a:t>
            </a:r>
          </a:p>
        </p:txBody>
      </p:sp>
      <p:sp>
        <p:nvSpPr>
          <p:cNvPr id="7" name="">
            <a:extLst xmlns:a="http://schemas.openxmlformats.org/drawingml/2006/main">
              <a:ext uri="{FF2B5EF4-FFF2-40B4-BE49-F238E27FC236}">
                <a16:creationId xmlns:a16="http://schemas.microsoft.com/office/drawing/2014/main" id="{55F03C0D-9E91-401A-95AA-974AAB2AC8F5}"/>
              </a:ext>
            </a:extLst>
          </p:cNvPr>
          <p:cNvSpPr>
            <a:spLocks xmlns:a="http://schemas.openxmlformats.org/drawingml/2006/main" noGrp="1"/>
          </p:cNvSpPr>
          <p:nvPr/>
        </p:nvSpPr>
        <p:spPr>
          <a:xfrm xmlns:a="http://schemas.openxmlformats.org/drawingml/2006/main">
            <a:off x="6477000" y="27146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The Trade record, its lifecycle and its calculations.</a:t>
            </a:r>
          </a:p>
        </p:txBody>
      </p:sp>
      <p:sp>
        <p:nvSpPr>
          <p:cNvPr id="8" name="">
            <a:extLst xmlns:a="http://schemas.openxmlformats.org/drawingml/2006/main">
              <a:ext uri="{FF2B5EF4-FFF2-40B4-BE49-F238E27FC236}">
                <a16:creationId xmlns:a16="http://schemas.microsoft.com/office/drawing/2014/main" id="{EAED5709-710B-4D49-A37E-2EBC42B8175A}"/>
              </a:ext>
            </a:extLst>
          </p:cNvPr>
          <p:cNvSpPr>
            <a:spLocks xmlns:a="http://schemas.openxmlformats.org/drawingml/2006/main" noGrp="1"/>
          </p:cNvSpPr>
          <p:nvPr/>
        </p:nvSpPr>
        <p:spPr>
          <a:xfrm xmlns:a="http://schemas.openxmlformats.org/drawingml/2006/main">
            <a:off x="809625" y="44386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3  The wider module</a:t>
            </a:r>
          </a:p>
        </p:txBody>
      </p:sp>
      <p:sp>
        <p:nvSpPr>
          <p:cNvPr id="9" name="">
            <a:extLst xmlns:a="http://schemas.openxmlformats.org/drawingml/2006/main">
              <a:ext uri="{FF2B5EF4-FFF2-40B4-BE49-F238E27FC236}">
                <a16:creationId xmlns:a16="http://schemas.microsoft.com/office/drawing/2014/main" id="{8584364C-15AE-410E-B219-676AA479D45A}"/>
              </a:ext>
            </a:extLst>
          </p:cNvPr>
          <p:cNvSpPr>
            <a:spLocks xmlns:a="http://schemas.openxmlformats.org/drawingml/2006/main" noGrp="1"/>
          </p:cNvSpPr>
          <p:nvPr/>
        </p:nvSpPr>
        <p:spPr>
          <a:xfrm xmlns:a="http://schemas.openxmlformats.org/drawingml/2006/main">
            <a:off x="809625" y="49625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Accounting, stock, budgets, reporting and the roadmap.</a:t>
            </a:r>
          </a:p>
        </p:txBody>
      </p:sp>
      <p:sp>
        <p:nvSpPr>
          <p:cNvPr id="10" name="">
            <a:extLst xmlns:a="http://schemas.openxmlformats.org/drawingml/2006/main">
              <a:ext uri="{FF2B5EF4-FFF2-40B4-BE49-F238E27FC236}">
                <a16:creationId xmlns:a16="http://schemas.microsoft.com/office/drawing/2014/main" id="{8A298316-2F3E-48EE-9828-8943994D3C31}"/>
              </a:ext>
            </a:extLst>
          </p:cNvPr>
          <p:cNvSpPr>
            <a:spLocks xmlns:a="http://schemas.openxmlformats.org/drawingml/2006/main" noGrp="1"/>
          </p:cNvSpPr>
          <p:nvPr/>
        </p:nvSpPr>
        <p:spPr>
          <a:xfrm xmlns:a="http://schemas.openxmlformats.org/drawingml/2006/main">
            <a:off x="6477000" y="44386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4  Live walkthrough</a:t>
            </a:r>
          </a:p>
        </p:txBody>
      </p:sp>
      <p:sp>
        <p:nvSpPr>
          <p:cNvPr id="11" name="">
            <a:extLst xmlns:a="http://schemas.openxmlformats.org/drawingml/2006/main">
              <a:ext uri="{FF2B5EF4-FFF2-40B4-BE49-F238E27FC236}">
                <a16:creationId xmlns:a16="http://schemas.microsoft.com/office/drawing/2014/main" id="{B60DD48E-07B6-4F75-BB96-BBEFD38BA60B}"/>
              </a:ext>
            </a:extLst>
          </p:cNvPr>
          <p:cNvSpPr>
            <a:spLocks xmlns:a="http://schemas.openxmlformats.org/drawingml/2006/main" noGrp="1"/>
          </p:cNvSpPr>
          <p:nvPr/>
        </p:nvSpPr>
        <p:spPr>
          <a:xfrm xmlns:a="http://schemas.openxmlformats.org/drawingml/2006/main">
            <a:off x="6477000" y="4962525"/>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The full trade journey, from purchase to the final result.</a:t>
            </a:r>
          </a:p>
        </p:txBody>
      </p:sp>
    </p:spTree>
    <p:extLst>
      <p:ext uri="{BB962C8B-B14F-4D97-AF65-F5344CB8AC3E}">
        <p14:creationId xmlns:p14="http://schemas.microsoft.com/office/powerpoint/2010/main" val="43526014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3DD40D-97A8-418C-BD62-C52B226A6DEC}"/>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THE DOMAIN</a:t>
            </a:r>
          </a:p>
        </p:txBody>
      </p:sp>
      <p:sp>
        <p:nvSpPr>
          <p:cNvPr id="2" name="">
            <a:extLst xmlns:a="http://schemas.openxmlformats.org/drawingml/2006/main">
              <a:ext uri="{FF2B5EF4-FFF2-40B4-BE49-F238E27FC236}">
                <a16:creationId xmlns:a16="http://schemas.microsoft.com/office/drawing/2014/main" id="{7FD43EFC-8DC3-4B49-A36A-5A02BA16407B}"/>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Commodity trading in plain language</a:t>
            </a:r>
          </a:p>
        </p:txBody>
      </p:sp>
      <p:sp>
        <p:nvSpPr>
          <p:cNvPr id="3" name="">
            <a:extLst xmlns:a="http://schemas.openxmlformats.org/drawingml/2006/main">
              <a:ext uri="{FF2B5EF4-FFF2-40B4-BE49-F238E27FC236}">
                <a16:creationId xmlns:a16="http://schemas.microsoft.com/office/drawing/2014/main" id="{ABAB406A-35E8-4A99-9518-6C9474F085D0}"/>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A business buys and sells goods such as cocoa, coffee, grain or fuel while market prices change.</a:t>
            </a:r>
          </a:p>
        </p:txBody>
      </p:sp>
      <p:sp>
        <p:nvSpPr>
          <p:cNvPr id="4" name="">
            <a:extLst xmlns:a="http://schemas.openxmlformats.org/drawingml/2006/main">
              <a:ext uri="{FF2B5EF4-FFF2-40B4-BE49-F238E27FC236}">
                <a16:creationId xmlns:a16="http://schemas.microsoft.com/office/drawing/2014/main" id="{CD2C4EBD-8F02-43C9-8587-9E7A6205D095}"/>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670D1E6-8311-42ED-BD52-73B87717DE1E}"/>
              </a:ext>
            </a:extLst>
          </p:cNvPr>
          <p:cNvSpPr>
            <a:spLocks xmlns:a="http://schemas.openxmlformats.org/drawingml/2006/main" noGrp="1"/>
          </p:cNvSpPr>
          <p:nvPr/>
        </p:nvSpPr>
        <p:spPr>
          <a:xfrm xmlns:a="http://schemas.openxmlformats.org/drawingml/2006/main">
            <a:off x="800100" y="28956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One deal</a:t>
            </a:r>
          </a:p>
        </p:txBody>
      </p:sp>
      <p:sp>
        <p:nvSpPr>
          <p:cNvPr id="6" name="">
            <a:extLst xmlns:a="http://schemas.openxmlformats.org/drawingml/2006/main">
              <a:ext uri="{FF2B5EF4-FFF2-40B4-BE49-F238E27FC236}">
                <a16:creationId xmlns:a16="http://schemas.microsoft.com/office/drawing/2014/main" id="{0F3ED639-9A41-43E2-9A7F-089B848B3CA6}"/>
              </a:ext>
            </a:extLst>
          </p:cNvPr>
          <p:cNvSpPr>
            <a:spLocks xmlns:a="http://schemas.openxmlformats.org/drawingml/2006/main" noGrp="1"/>
          </p:cNvSpPr>
          <p:nvPr/>
        </p:nvSpPr>
        <p:spPr>
          <a:xfrm xmlns:a="http://schemas.openxmlformats.org/drawingml/2006/main">
            <a:off x="800100" y="34194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A batch may be bought once and sold through several orders over time.</a:t>
            </a:r>
          </a:p>
        </p:txBody>
      </p:sp>
      <p:sp>
        <p:nvSpPr>
          <p:cNvPr id="7" name="">
            <a:extLst xmlns:a="http://schemas.openxmlformats.org/drawingml/2006/main">
              <a:ext uri="{FF2B5EF4-FFF2-40B4-BE49-F238E27FC236}">
                <a16:creationId xmlns:a16="http://schemas.microsoft.com/office/drawing/2014/main" id="{0F515230-55D1-4B96-B926-52EABE459442}"/>
              </a:ext>
            </a:extLst>
          </p:cNvPr>
          <p:cNvSpPr>
            <a:spLocks xmlns:a="http://schemas.openxmlformats.org/drawingml/2006/main" noGrp="1"/>
          </p:cNvSpPr>
          <p:nvPr/>
        </p:nvSpPr>
        <p:spPr>
          <a:xfrm xmlns:a="http://schemas.openxmlformats.org/drawingml/2006/main">
            <a:off x="4476750" y="28956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One position</a:t>
            </a:r>
          </a:p>
        </p:txBody>
      </p:sp>
      <p:sp>
        <p:nvSpPr>
          <p:cNvPr id="8" name="">
            <a:extLst xmlns:a="http://schemas.openxmlformats.org/drawingml/2006/main">
              <a:ext uri="{FF2B5EF4-FFF2-40B4-BE49-F238E27FC236}">
                <a16:creationId xmlns:a16="http://schemas.microsoft.com/office/drawing/2014/main" id="{F270D2AC-48D6-4C2D-9997-3BEF98F598E2}"/>
              </a:ext>
            </a:extLst>
          </p:cNvPr>
          <p:cNvSpPr>
            <a:spLocks xmlns:a="http://schemas.openxmlformats.org/drawingml/2006/main" noGrp="1"/>
          </p:cNvSpPr>
          <p:nvPr/>
        </p:nvSpPr>
        <p:spPr>
          <a:xfrm xmlns:a="http://schemas.openxmlformats.org/drawingml/2006/main">
            <a:off x="4476750" y="34194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The unsold or uncovered quantity remains exposed to price changes.</a:t>
            </a:r>
          </a:p>
        </p:txBody>
      </p:sp>
      <p:sp>
        <p:nvSpPr>
          <p:cNvPr id="9" name="">
            <a:extLst xmlns:a="http://schemas.openxmlformats.org/drawingml/2006/main">
              <a:ext uri="{FF2B5EF4-FFF2-40B4-BE49-F238E27FC236}">
                <a16:creationId xmlns:a16="http://schemas.microsoft.com/office/drawing/2014/main" id="{A8C58BF8-F774-4FE9-BB27-D480BEB6D6A5}"/>
              </a:ext>
            </a:extLst>
          </p:cNvPr>
          <p:cNvSpPr>
            <a:spLocks xmlns:a="http://schemas.openxmlformats.org/drawingml/2006/main" noGrp="1"/>
          </p:cNvSpPr>
          <p:nvPr/>
        </p:nvSpPr>
        <p:spPr>
          <a:xfrm xmlns:a="http://schemas.openxmlformats.org/drawingml/2006/main">
            <a:off x="8153400" y="28956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One result</a:t>
            </a:r>
          </a:p>
        </p:txBody>
      </p:sp>
      <p:sp>
        <p:nvSpPr>
          <p:cNvPr id="10" name="">
            <a:extLst xmlns:a="http://schemas.openxmlformats.org/drawingml/2006/main">
              <a:ext uri="{FF2B5EF4-FFF2-40B4-BE49-F238E27FC236}">
                <a16:creationId xmlns:a16="http://schemas.microsoft.com/office/drawing/2014/main" id="{C9ADE0CA-2A60-4A03-BCC9-587D6C911750}"/>
              </a:ext>
            </a:extLst>
          </p:cNvPr>
          <p:cNvSpPr>
            <a:spLocks xmlns:a="http://schemas.openxmlformats.org/drawingml/2006/main" noGrp="1"/>
          </p:cNvSpPr>
          <p:nvPr/>
        </p:nvSpPr>
        <p:spPr>
          <a:xfrm xmlns:a="http://schemas.openxmlformats.org/drawingml/2006/main">
            <a:off x="8153400" y="34194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The business needs profit or loss for the sold part and the open part.</a:t>
            </a:r>
          </a:p>
        </p:txBody>
      </p:sp>
      <p:sp>
        <p:nvSpPr>
          <p:cNvPr id="11" name="">
            <a:extLst xmlns:a="http://schemas.openxmlformats.org/drawingml/2006/main">
              <a:ext uri="{FF2B5EF4-FFF2-40B4-BE49-F238E27FC236}">
                <a16:creationId xmlns:a16="http://schemas.microsoft.com/office/drawing/2014/main" id="{592B7A5E-1D85-4AAE-BD73-AE39B356B292}"/>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Example: buy 100 units, sell 40, manage the remaining 60.</a:t>
            </a:r>
          </a:p>
        </p:txBody>
      </p:sp>
    </p:spTree>
    <p:extLst>
      <p:ext uri="{BB962C8B-B14F-4D97-AF65-F5344CB8AC3E}">
        <p14:creationId xmlns:p14="http://schemas.microsoft.com/office/powerpoint/2010/main" val="525999426"/>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065562-2319-4CF9-BE5F-C24AC097FAE5}"/>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THE GAP</a:t>
            </a:r>
          </a:p>
        </p:txBody>
      </p:sp>
      <p:sp>
        <p:nvSpPr>
          <p:cNvPr id="2" name="">
            <a:extLst xmlns:a="http://schemas.openxmlformats.org/drawingml/2006/main">
              <a:ext uri="{FF2B5EF4-FFF2-40B4-BE49-F238E27FC236}">
                <a16:creationId xmlns:a16="http://schemas.microsoft.com/office/drawing/2014/main" id="{8C29CEDC-9BAB-4862-8445-A0E04668EE29}"/>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What standard Odoo already provides</a:t>
            </a:r>
          </a:p>
        </p:txBody>
      </p:sp>
      <p:sp>
        <p:nvSpPr>
          <p:cNvPr id="3" name="">
            <a:extLst xmlns:a="http://schemas.openxmlformats.org/drawingml/2006/main">
              <a:ext uri="{FF2B5EF4-FFF2-40B4-BE49-F238E27FC236}">
                <a16:creationId xmlns:a16="http://schemas.microsoft.com/office/drawing/2014/main" id="{BA35F170-D06B-477A-BF6A-FD4E6EABE421}"/>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case for this module depends on being precise about the starting point.</a:t>
            </a:r>
          </a:p>
        </p:txBody>
      </p:sp>
      <p:sp>
        <p:nvSpPr>
          <p:cNvPr id="4" name="">
            <a:extLst xmlns:a="http://schemas.openxmlformats.org/drawingml/2006/main">
              <a:ext uri="{FF2B5EF4-FFF2-40B4-BE49-F238E27FC236}">
                <a16:creationId xmlns:a16="http://schemas.microsoft.com/office/drawing/2014/main" id="{C15E0CD9-3AC1-4541-B588-3E4E2A978BC1}"/>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2CF7639-3580-489E-99BF-B06A47264530}"/>
              </a:ext>
            </a:extLst>
          </p:cNvPr>
          <p:cNvSpPr>
            <a:spLocks xmlns:a="http://schemas.openxmlformats.org/drawingml/2006/main" noGrp="1"/>
          </p:cNvSpPr>
          <p:nvPr/>
        </p:nvSpPr>
        <p:spPr>
          <a:xfrm xmlns:a="http://schemas.openxmlformats.org/drawingml/2006/main">
            <a:off x="80010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Orders and stock</a:t>
            </a:r>
          </a:p>
        </p:txBody>
      </p:sp>
      <p:sp>
        <p:nvSpPr>
          <p:cNvPr id="6" name="">
            <a:extLst xmlns:a="http://schemas.openxmlformats.org/drawingml/2006/main">
              <a:ext uri="{FF2B5EF4-FFF2-40B4-BE49-F238E27FC236}">
                <a16:creationId xmlns:a16="http://schemas.microsoft.com/office/drawing/2014/main" id="{9AA1FC60-60F2-4DD5-AA6F-3D6954057D60}"/>
              </a:ext>
            </a:extLst>
          </p:cNvPr>
          <p:cNvSpPr>
            <a:spLocks xmlns:a="http://schemas.openxmlformats.org/drawingml/2006/main" noGrp="1"/>
          </p:cNvSpPr>
          <p:nvPr/>
        </p:nvSpPr>
        <p:spPr>
          <a:xfrm xmlns:a="http://schemas.openxmlformats.org/drawingml/2006/main">
            <a:off x="80010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Purchase, Sales and Inventory record transactions and physical movement.</a:t>
            </a:r>
          </a:p>
        </p:txBody>
      </p:sp>
      <p:sp>
        <p:nvSpPr>
          <p:cNvPr id="7" name="">
            <a:extLst xmlns:a="http://schemas.openxmlformats.org/drawingml/2006/main">
              <a:ext uri="{FF2B5EF4-FFF2-40B4-BE49-F238E27FC236}">
                <a16:creationId xmlns:a16="http://schemas.microsoft.com/office/drawing/2014/main" id="{47F40158-648D-4884-BDCD-DBF0C71321B8}"/>
              </a:ext>
            </a:extLst>
          </p:cNvPr>
          <p:cNvSpPr>
            <a:spLocks xmlns:a="http://schemas.openxmlformats.org/drawingml/2006/main" noGrp="1"/>
          </p:cNvSpPr>
          <p:nvPr/>
        </p:nvSpPr>
        <p:spPr>
          <a:xfrm xmlns:a="http://schemas.openxmlformats.org/drawingml/2006/main">
            <a:off x="447675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Analytic accounts</a:t>
            </a:r>
          </a:p>
        </p:txBody>
      </p:sp>
      <p:sp>
        <p:nvSpPr>
          <p:cNvPr id="8" name="">
            <a:extLst xmlns:a="http://schemas.openxmlformats.org/drawingml/2006/main">
              <a:ext uri="{FF2B5EF4-FFF2-40B4-BE49-F238E27FC236}">
                <a16:creationId xmlns:a16="http://schemas.microsoft.com/office/drawing/2014/main" id="{4AB9E75C-E61D-4B0F-90B9-7D408E975723}"/>
              </a:ext>
            </a:extLst>
          </p:cNvPr>
          <p:cNvSpPr>
            <a:spLocks xmlns:a="http://schemas.openxmlformats.org/drawingml/2006/main" noGrp="1"/>
          </p:cNvSpPr>
          <p:nvPr/>
        </p:nvSpPr>
        <p:spPr>
          <a:xfrm xmlns:a="http://schemas.openxmlformats.org/drawingml/2006/main">
            <a:off x="447675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They group attributed accounting costs and revenue for profitability analysis.</a:t>
            </a:r>
          </a:p>
        </p:txBody>
      </p:sp>
      <p:sp>
        <p:nvSpPr>
          <p:cNvPr id="9" name="">
            <a:extLst xmlns:a="http://schemas.openxmlformats.org/drawingml/2006/main">
              <a:ext uri="{FF2B5EF4-FFF2-40B4-BE49-F238E27FC236}">
                <a16:creationId xmlns:a16="http://schemas.microsoft.com/office/drawing/2014/main" id="{B3CB941D-86B5-4139-BF87-04310BD4A227}"/>
              </a:ext>
            </a:extLst>
          </p:cNvPr>
          <p:cNvSpPr>
            <a:spLocks xmlns:a="http://schemas.openxmlformats.org/drawingml/2006/main" noGrp="1"/>
          </p:cNvSpPr>
          <p:nvPr/>
        </p:nvSpPr>
        <p:spPr>
          <a:xfrm xmlns:a="http://schemas.openxmlformats.org/drawingml/2006/main">
            <a:off x="815340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The missing view</a:t>
            </a:r>
          </a:p>
        </p:txBody>
      </p:sp>
      <p:sp>
        <p:nvSpPr>
          <p:cNvPr id="10" name="">
            <a:extLst xmlns:a="http://schemas.openxmlformats.org/drawingml/2006/main">
              <a:ext uri="{FF2B5EF4-FFF2-40B4-BE49-F238E27FC236}">
                <a16:creationId xmlns:a16="http://schemas.microsoft.com/office/drawing/2014/main" id="{AD8379B6-1824-4261-804E-CC0B0CBA53F2}"/>
              </a:ext>
            </a:extLst>
          </p:cNvPr>
          <p:cNvSpPr>
            <a:spLocks xmlns:a="http://schemas.openxmlformats.org/drawingml/2006/main" noGrp="1"/>
          </p:cNvSpPr>
          <p:nvPr/>
        </p:nvSpPr>
        <p:spPr>
          <a:xfrm xmlns:a="http://schemas.openxmlformats.org/drawingml/2006/main">
            <a:off x="815340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Neither produces this module’s live, trade-specific position from linked orders.</a:t>
            </a:r>
          </a:p>
        </p:txBody>
      </p:sp>
      <p:sp>
        <p:nvSpPr>
          <p:cNvPr id="11" name="">
            <a:extLst xmlns:a="http://schemas.openxmlformats.org/drawingml/2006/main">
              <a:ext uri="{FF2B5EF4-FFF2-40B4-BE49-F238E27FC236}">
                <a16:creationId xmlns:a16="http://schemas.microsoft.com/office/drawing/2014/main" id="{632DF3B9-5FEB-4105-9F97-F2941C059774}"/>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The gap is position management across documents, not a lack of accounting reports.</a:t>
            </a:r>
          </a:p>
        </p:txBody>
      </p:sp>
    </p:spTree>
    <p:extLst>
      <p:ext uri="{BB962C8B-B14F-4D97-AF65-F5344CB8AC3E}">
        <p14:creationId xmlns:p14="http://schemas.microsoft.com/office/powerpoint/2010/main" val="207523250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A66CEC-C3F6-47A6-9CF8-FCE1B2B57BC6}"/>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E2E28269-D7F5-491E-A29C-425AE7F184AA}"/>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The Trade is the connecting record</a:t>
            </a:r>
          </a:p>
        </p:txBody>
      </p:sp>
      <p:sp>
        <p:nvSpPr>
          <p:cNvPr id="3" name="">
            <a:extLst xmlns:a="http://schemas.openxmlformats.org/drawingml/2006/main">
              <a:ext uri="{FF2B5EF4-FFF2-40B4-BE49-F238E27FC236}">
                <a16:creationId xmlns:a16="http://schemas.microsoft.com/office/drawing/2014/main" id="{ECB76645-E1EA-4D15-A479-F3BB56AAE2C0}"/>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Users continue to confirm normal Odoo documents. The module builds and updates the Trade from those events.</a:t>
            </a:r>
          </a:p>
        </p:txBody>
      </p:sp>
      <p:sp>
        <p:nvSpPr>
          <p:cNvPr id="4" name="">
            <a:extLst xmlns:a="http://schemas.openxmlformats.org/drawingml/2006/main">
              <a:ext uri="{FF2B5EF4-FFF2-40B4-BE49-F238E27FC236}">
                <a16:creationId xmlns:a16="http://schemas.microsoft.com/office/drawing/2014/main" id="{49960EBA-2D5C-422B-B88D-8E9EB5A30483}"/>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B3B5796-FB30-4698-B451-227A65FB14F2}"/>
              </a:ext>
            </a:extLst>
          </p:cNvPr>
          <p:cNvSpPr>
            <a:spLocks xmlns:a="http://schemas.openxmlformats.org/drawingml/2006/main" noGrp="1"/>
          </p:cNvSpPr>
          <p:nvPr/>
        </p:nvSpPr>
        <p:spPr>
          <a:xfrm xmlns:a="http://schemas.openxmlformats.org/drawingml/2006/main">
            <a:off x="800100" y="29051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Orders</a:t>
            </a:r>
          </a:p>
        </p:txBody>
      </p:sp>
      <p:sp>
        <p:nvSpPr>
          <p:cNvPr id="6" name="">
            <a:extLst xmlns:a="http://schemas.openxmlformats.org/drawingml/2006/main">
              <a:ext uri="{FF2B5EF4-FFF2-40B4-BE49-F238E27FC236}">
                <a16:creationId xmlns:a16="http://schemas.microsoft.com/office/drawing/2014/main" id="{D0AB7384-3517-4D2E-995E-B2C673927472}"/>
              </a:ext>
            </a:extLst>
          </p:cNvPr>
          <p:cNvSpPr>
            <a:spLocks xmlns:a="http://schemas.openxmlformats.org/drawingml/2006/main" noGrp="1"/>
          </p:cNvSpPr>
          <p:nvPr/>
        </p:nvSpPr>
        <p:spPr>
          <a:xfrm xmlns:a="http://schemas.openxmlformats.org/drawingml/2006/main">
            <a:off x="800100" y="342900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2333"/>
                </a:solidFill>
                <a:latin typeface="Arial"/>
                <a:ea typeface="Arial"/>
                <a:cs typeface="Arial"/>
              </a:defRPr>
            </a:pPr>
            <a:r>
              <a:rPr sz="1575" b="0">
                <a:solidFill>
                  <a:srgbClr val="142333"/>
                </a:solidFill>
                <a:latin typeface="Arial"/>
                <a:ea typeface="Arial"/>
                <a:cs typeface="Arial"/>
              </a:rPr>
              <a:t>Purchase confirmation creates or updates a long Trade. Sale confirmation links a Trade or creates a short Trade.</a:t>
            </a:r>
          </a:p>
        </p:txBody>
      </p:sp>
      <p:sp>
        <p:nvSpPr>
          <p:cNvPr id="7" name="">
            <a:extLst xmlns:a="http://schemas.openxmlformats.org/drawingml/2006/main">
              <a:ext uri="{FF2B5EF4-FFF2-40B4-BE49-F238E27FC236}">
                <a16:creationId xmlns:a16="http://schemas.microsoft.com/office/drawing/2014/main" id="{9D9E2CEB-6B4A-4648-9704-0D9544B8BC63}"/>
              </a:ext>
            </a:extLst>
          </p:cNvPr>
          <p:cNvSpPr>
            <a:spLocks xmlns:a="http://schemas.openxmlformats.org/drawingml/2006/main" noGrp="1"/>
          </p:cNvSpPr>
          <p:nvPr/>
        </p:nvSpPr>
        <p:spPr>
          <a:xfrm xmlns:a="http://schemas.openxmlformats.org/drawingml/2006/main">
            <a:off x="4476750" y="29051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Accounting</a:t>
            </a:r>
          </a:p>
        </p:txBody>
      </p:sp>
      <p:sp>
        <p:nvSpPr>
          <p:cNvPr id="8" name="">
            <a:extLst xmlns:a="http://schemas.openxmlformats.org/drawingml/2006/main">
              <a:ext uri="{FF2B5EF4-FFF2-40B4-BE49-F238E27FC236}">
                <a16:creationId xmlns:a16="http://schemas.microsoft.com/office/drawing/2014/main" id="{C466DD8F-02A7-43E5-8340-B48C6CB9259F}"/>
              </a:ext>
            </a:extLst>
          </p:cNvPr>
          <p:cNvSpPr>
            <a:spLocks xmlns:a="http://schemas.openxmlformats.org/drawingml/2006/main" noGrp="1"/>
          </p:cNvSpPr>
          <p:nvPr/>
        </p:nvSpPr>
        <p:spPr>
          <a:xfrm xmlns:a="http://schemas.openxmlformats.org/drawingml/2006/main">
            <a:off x="4476750" y="342900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2333"/>
                </a:solidFill>
                <a:latin typeface="Arial"/>
                <a:ea typeface="Arial"/>
                <a:cs typeface="Arial"/>
              </a:defRPr>
            </a:pPr>
            <a:r>
              <a:rPr sz="1575" b="0">
                <a:solidFill>
                  <a:srgbClr val="142333"/>
                </a:solidFill>
                <a:latin typeface="Arial"/>
                <a:ea typeface="Arial"/>
                <a:cs typeface="Arial"/>
              </a:rPr>
              <a:t>Invoices and bills connect to the Trade and affect additional cost or revenue.</a:t>
            </a:r>
          </a:p>
        </p:txBody>
      </p:sp>
      <p:sp>
        <p:nvSpPr>
          <p:cNvPr id="9" name="">
            <a:extLst xmlns:a="http://schemas.openxmlformats.org/drawingml/2006/main">
              <a:ext uri="{FF2B5EF4-FFF2-40B4-BE49-F238E27FC236}">
                <a16:creationId xmlns:a16="http://schemas.microsoft.com/office/drawing/2014/main" id="{52BB4247-85FD-42BC-B002-1E2DF1399299}"/>
              </a:ext>
            </a:extLst>
          </p:cNvPr>
          <p:cNvSpPr>
            <a:spLocks xmlns:a="http://schemas.openxmlformats.org/drawingml/2006/main" noGrp="1"/>
          </p:cNvSpPr>
          <p:nvPr/>
        </p:nvSpPr>
        <p:spPr>
          <a:xfrm xmlns:a="http://schemas.openxmlformats.org/drawingml/2006/main">
            <a:off x="8153400" y="29051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Inventory</a:t>
            </a:r>
          </a:p>
        </p:txBody>
      </p:sp>
      <p:sp>
        <p:nvSpPr>
          <p:cNvPr id="10" name="">
            <a:extLst xmlns:a="http://schemas.openxmlformats.org/drawingml/2006/main">
              <a:ext uri="{FF2B5EF4-FFF2-40B4-BE49-F238E27FC236}">
                <a16:creationId xmlns:a16="http://schemas.microsoft.com/office/drawing/2014/main" id="{DDB520F9-4869-426F-9DD1-B4D7F96C946C}"/>
              </a:ext>
            </a:extLst>
          </p:cNvPr>
          <p:cNvSpPr>
            <a:spLocks xmlns:a="http://schemas.openxmlformats.org/drawingml/2006/main" noGrp="1"/>
          </p:cNvSpPr>
          <p:nvPr/>
        </p:nvSpPr>
        <p:spPr>
          <a:xfrm xmlns:a="http://schemas.openxmlformats.org/drawingml/2006/main">
            <a:off x="8153400" y="342900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2333"/>
                </a:solidFill>
                <a:latin typeface="Arial"/>
                <a:ea typeface="Arial"/>
                <a:cs typeface="Arial"/>
              </a:defRPr>
            </a:pPr>
            <a:r>
              <a:rPr sz="1575" b="0">
                <a:solidFill>
                  <a:srgbClr val="142333"/>
                </a:solidFill>
                <a:latin typeface="Arial"/>
                <a:ea typeface="Arial"/>
                <a:cs typeface="Arial"/>
              </a:rPr>
              <a:t>Validated receipts connect stock lots to the Trade.</a:t>
            </a:r>
          </a:p>
        </p:txBody>
      </p:sp>
      <p:sp>
        <p:nvSpPr>
          <p:cNvPr id="11" name="">
            <a:extLst xmlns:a="http://schemas.openxmlformats.org/drawingml/2006/main">
              <a:ext uri="{FF2B5EF4-FFF2-40B4-BE49-F238E27FC236}">
                <a16:creationId xmlns:a16="http://schemas.microsoft.com/office/drawing/2014/main" id="{0ED1E7D8-526C-4B16-BB08-9005FA747FBB}"/>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No second manual entry is required in the normal flow.</a:t>
            </a:r>
          </a:p>
        </p:txBody>
      </p:sp>
    </p:spTree>
    <p:extLst>
      <p:ext uri="{BB962C8B-B14F-4D97-AF65-F5344CB8AC3E}">
        <p14:creationId xmlns:p14="http://schemas.microsoft.com/office/powerpoint/2010/main" val="8233593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E4DD76-6BB5-4756-8C45-969B23774967}"/>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TRADE LIFECYCLE</a:t>
            </a:r>
          </a:p>
        </p:txBody>
      </p:sp>
      <p:sp>
        <p:nvSpPr>
          <p:cNvPr id="2" name="">
            <a:extLst xmlns:a="http://schemas.openxmlformats.org/drawingml/2006/main">
              <a:ext uri="{FF2B5EF4-FFF2-40B4-BE49-F238E27FC236}">
                <a16:creationId xmlns:a16="http://schemas.microsoft.com/office/drawing/2014/main" id="{413A865F-EDDD-416E-B705-D4A616E011AE}"/>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Long and short positions</a:t>
            </a:r>
          </a:p>
        </p:txBody>
      </p:sp>
      <p:sp>
        <p:nvSpPr>
          <p:cNvPr id="3" name="">
            <a:extLst xmlns:a="http://schemas.openxmlformats.org/drawingml/2006/main">
              <a:ext uri="{FF2B5EF4-FFF2-40B4-BE49-F238E27FC236}">
                <a16:creationId xmlns:a16="http://schemas.microsoft.com/office/drawing/2014/main" id="{F7BA9127-28D1-475E-94A2-D276DDA89834}"/>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opening document determines the direction of the position.</a:t>
            </a:r>
          </a:p>
        </p:txBody>
      </p:sp>
      <p:sp>
        <p:nvSpPr>
          <p:cNvPr id="4" name="">
            <a:extLst xmlns:a="http://schemas.openxmlformats.org/drawingml/2006/main">
              <a:ext uri="{FF2B5EF4-FFF2-40B4-BE49-F238E27FC236}">
                <a16:creationId xmlns:a16="http://schemas.microsoft.com/office/drawing/2014/main" id="{2DC11908-D347-4897-A03E-1F27CDA445DF}"/>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0266B20-2E8C-408A-826C-2CEB3CD71119}"/>
              </a:ext>
            </a:extLst>
          </p:cNvPr>
          <p:cNvSpPr>
            <a:spLocks xmlns:a="http://schemas.openxmlformats.org/drawingml/2006/main" noGrp="1"/>
          </p:cNvSpPr>
          <p:nvPr/>
        </p:nvSpPr>
        <p:spPr>
          <a:xfrm xmlns:a="http://schemas.openxmlformats.org/drawingml/2006/main">
            <a:off x="800100" y="2828925"/>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Long trade</a:t>
            </a:r>
          </a:p>
        </p:txBody>
      </p:sp>
      <p:sp>
        <p:nvSpPr>
          <p:cNvPr id="6" name="">
            <a:extLst xmlns:a="http://schemas.openxmlformats.org/drawingml/2006/main">
              <a:ext uri="{FF2B5EF4-FFF2-40B4-BE49-F238E27FC236}">
                <a16:creationId xmlns:a16="http://schemas.microsoft.com/office/drawing/2014/main" id="{75A83AB2-E790-43F8-A11F-8E67AA2A7870}"/>
              </a:ext>
            </a:extLst>
          </p:cNvPr>
          <p:cNvSpPr>
            <a:spLocks xmlns:a="http://schemas.openxmlformats.org/drawingml/2006/main" noGrp="1"/>
          </p:cNvSpPr>
          <p:nvPr/>
        </p:nvSpPr>
        <p:spPr>
          <a:xfrm xmlns:a="http://schemas.openxmlformats.org/drawingml/2006/main">
            <a:off x="800100" y="3352800"/>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Buy first. Open quantity is purchase quantity less confirmed sold quantity.</a:t>
            </a:r>
          </a:p>
        </p:txBody>
      </p:sp>
      <p:sp>
        <p:nvSpPr>
          <p:cNvPr id="7" name="">
            <a:extLst xmlns:a="http://schemas.openxmlformats.org/drawingml/2006/main">
              <a:ext uri="{FF2B5EF4-FFF2-40B4-BE49-F238E27FC236}">
                <a16:creationId xmlns:a16="http://schemas.microsoft.com/office/drawing/2014/main" id="{82820F34-1044-4085-913D-CAFB3D10B1D1}"/>
              </a:ext>
            </a:extLst>
          </p:cNvPr>
          <p:cNvSpPr>
            <a:spLocks xmlns:a="http://schemas.openxmlformats.org/drawingml/2006/main" noGrp="1"/>
          </p:cNvSpPr>
          <p:nvPr/>
        </p:nvSpPr>
        <p:spPr>
          <a:xfrm xmlns:a="http://schemas.openxmlformats.org/drawingml/2006/main">
            <a:off x="6477000" y="2828925"/>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Short trade</a:t>
            </a:r>
          </a:p>
        </p:txBody>
      </p:sp>
      <p:sp>
        <p:nvSpPr>
          <p:cNvPr id="8" name="">
            <a:extLst xmlns:a="http://schemas.openxmlformats.org/drawingml/2006/main">
              <a:ext uri="{FF2B5EF4-FFF2-40B4-BE49-F238E27FC236}">
                <a16:creationId xmlns:a16="http://schemas.microsoft.com/office/drawing/2014/main" id="{EC9B5C37-59D6-4BD4-A667-88230E356478}"/>
              </a:ext>
            </a:extLst>
          </p:cNvPr>
          <p:cNvSpPr>
            <a:spLocks xmlns:a="http://schemas.openxmlformats.org/drawingml/2006/main" noGrp="1"/>
          </p:cNvSpPr>
          <p:nvPr/>
        </p:nvSpPr>
        <p:spPr>
          <a:xfrm xmlns:a="http://schemas.openxmlformats.org/drawingml/2006/main">
            <a:off x="6477000" y="3352800"/>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Sell first when no matching open Trade exists. The open quantity is negative until covered.</a:t>
            </a:r>
          </a:p>
        </p:txBody>
      </p:sp>
      <p:sp>
        <p:nvSpPr>
          <p:cNvPr id="9" name="">
            <a:extLst xmlns:a="http://schemas.openxmlformats.org/drawingml/2006/main">
              <a:ext uri="{FF2B5EF4-FFF2-40B4-BE49-F238E27FC236}">
                <a16:creationId xmlns:a16="http://schemas.microsoft.com/office/drawing/2014/main" id="{A4B35D06-2B4A-4E39-B20D-2B694A2653D6}"/>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A confirmed Trade closes automatically when its matching rule is satisfied.</a:t>
            </a:r>
          </a:p>
        </p:txBody>
      </p:sp>
    </p:spTree>
    <p:extLst>
      <p:ext uri="{BB962C8B-B14F-4D97-AF65-F5344CB8AC3E}">
        <p14:creationId xmlns:p14="http://schemas.microsoft.com/office/powerpoint/2010/main" val="1305707108"/>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4F41E8-9F6E-4578-8676-CE9B3CE4B838}"/>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CORE CALCULATIONS</a:t>
            </a:r>
          </a:p>
        </p:txBody>
      </p:sp>
      <p:sp>
        <p:nvSpPr>
          <p:cNvPr id="2" name="">
            <a:extLst xmlns:a="http://schemas.openxmlformats.org/drawingml/2006/main">
              <a:ext uri="{FF2B5EF4-FFF2-40B4-BE49-F238E27FC236}">
                <a16:creationId xmlns:a16="http://schemas.microsoft.com/office/drawing/2014/main" id="{4CFAA0A3-E152-4C1C-8682-11F2C83B73DA}"/>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The numbers on a Trade</a:t>
            </a:r>
          </a:p>
        </p:txBody>
      </p:sp>
      <p:sp>
        <p:nvSpPr>
          <p:cNvPr id="3" name="">
            <a:extLst xmlns:a="http://schemas.openxmlformats.org/drawingml/2006/main">
              <a:ext uri="{FF2B5EF4-FFF2-40B4-BE49-F238E27FC236}">
                <a16:creationId xmlns:a16="http://schemas.microsoft.com/office/drawing/2014/main" id="{86AF5273-6DEE-44A7-8E87-6226FE31D331}"/>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Each measure answers a different business question.</a:t>
            </a:r>
          </a:p>
        </p:txBody>
      </p:sp>
      <p:sp>
        <p:nvSpPr>
          <p:cNvPr id="4" name="">
            <a:extLst xmlns:a="http://schemas.openxmlformats.org/drawingml/2006/main">
              <a:ext uri="{FF2B5EF4-FFF2-40B4-BE49-F238E27FC236}">
                <a16:creationId xmlns:a16="http://schemas.microsoft.com/office/drawing/2014/main" id="{C3800D44-8FF1-42B1-ADFD-C5F9F112FCC3}"/>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CCF07B8-B9C0-4F6E-9A6C-600B80A590CA}"/>
              </a:ext>
            </a:extLst>
          </p:cNvPr>
          <p:cNvSpPr>
            <a:spLocks xmlns:a="http://schemas.openxmlformats.org/drawingml/2006/main" noGrp="1"/>
          </p:cNvSpPr>
          <p:nvPr/>
        </p:nvSpPr>
        <p:spPr>
          <a:xfrm xmlns:a="http://schemas.openxmlformats.org/drawingml/2006/main">
            <a:off x="800100" y="266700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Open position</a:t>
            </a:r>
          </a:p>
        </p:txBody>
      </p:sp>
      <p:sp>
        <p:nvSpPr>
          <p:cNvPr id="6" name="">
            <a:extLst xmlns:a="http://schemas.openxmlformats.org/drawingml/2006/main">
              <a:ext uri="{FF2B5EF4-FFF2-40B4-BE49-F238E27FC236}">
                <a16:creationId xmlns:a16="http://schemas.microsoft.com/office/drawing/2014/main" id="{9091C1C2-0677-42F8-9A21-EF337E5EA1A4}"/>
              </a:ext>
            </a:extLst>
          </p:cNvPr>
          <p:cNvSpPr>
            <a:spLocks xmlns:a="http://schemas.openxmlformats.org/drawingml/2006/main" noGrp="1"/>
          </p:cNvSpPr>
          <p:nvPr/>
        </p:nvSpPr>
        <p:spPr>
          <a:xfrm xmlns:a="http://schemas.openxmlformats.org/drawingml/2006/main">
            <a:off x="800100" y="31908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How much commercial exposure remains.</a:t>
            </a:r>
          </a:p>
        </p:txBody>
      </p:sp>
      <p:sp>
        <p:nvSpPr>
          <p:cNvPr id="7" name="">
            <a:extLst xmlns:a="http://schemas.openxmlformats.org/drawingml/2006/main">
              <a:ext uri="{FF2B5EF4-FFF2-40B4-BE49-F238E27FC236}">
                <a16:creationId xmlns:a16="http://schemas.microsoft.com/office/drawing/2014/main" id="{5A2411F6-59F0-4410-B0DC-F8056D86079C}"/>
              </a:ext>
            </a:extLst>
          </p:cNvPr>
          <p:cNvSpPr>
            <a:spLocks xmlns:a="http://schemas.openxmlformats.org/drawingml/2006/main" noGrp="1"/>
          </p:cNvSpPr>
          <p:nvPr/>
        </p:nvSpPr>
        <p:spPr>
          <a:xfrm xmlns:a="http://schemas.openxmlformats.org/drawingml/2006/main">
            <a:off x="6477000" y="266700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Realized P&amp;L</a:t>
            </a:r>
          </a:p>
        </p:txBody>
      </p:sp>
      <p:sp>
        <p:nvSpPr>
          <p:cNvPr id="8" name="">
            <a:extLst xmlns:a="http://schemas.openxmlformats.org/drawingml/2006/main">
              <a:ext uri="{FF2B5EF4-FFF2-40B4-BE49-F238E27FC236}">
                <a16:creationId xmlns:a16="http://schemas.microsoft.com/office/drawing/2014/main" id="{829D5489-A94F-4077-A0FF-C4167EB26987}"/>
              </a:ext>
            </a:extLst>
          </p:cNvPr>
          <p:cNvSpPr>
            <a:spLocks xmlns:a="http://schemas.openxmlformats.org/drawingml/2006/main" noGrp="1"/>
          </p:cNvSpPr>
          <p:nvPr/>
        </p:nvSpPr>
        <p:spPr>
          <a:xfrm xmlns:a="http://schemas.openxmlformats.org/drawingml/2006/main">
            <a:off x="6477000" y="31908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Profit or loss on the matched quantity already bought and sold.</a:t>
            </a:r>
          </a:p>
        </p:txBody>
      </p:sp>
      <p:sp>
        <p:nvSpPr>
          <p:cNvPr id="9" name="">
            <a:extLst xmlns:a="http://schemas.openxmlformats.org/drawingml/2006/main">
              <a:ext uri="{FF2B5EF4-FFF2-40B4-BE49-F238E27FC236}">
                <a16:creationId xmlns:a16="http://schemas.microsoft.com/office/drawing/2014/main" id="{924E41EC-7785-4128-9E7C-71AE496A29E9}"/>
              </a:ext>
            </a:extLst>
          </p:cNvPr>
          <p:cNvSpPr>
            <a:spLocks xmlns:a="http://schemas.openxmlformats.org/drawingml/2006/main" noGrp="1"/>
          </p:cNvSpPr>
          <p:nvPr/>
        </p:nvSpPr>
        <p:spPr>
          <a:xfrm xmlns:a="http://schemas.openxmlformats.org/drawingml/2006/main">
            <a:off x="800100" y="453390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Unrealized P&amp;L</a:t>
            </a:r>
          </a:p>
        </p:txBody>
      </p:sp>
      <p:sp>
        <p:nvSpPr>
          <p:cNvPr id="10" name="">
            <a:extLst xmlns:a="http://schemas.openxmlformats.org/drawingml/2006/main">
              <a:ext uri="{FF2B5EF4-FFF2-40B4-BE49-F238E27FC236}">
                <a16:creationId xmlns:a16="http://schemas.microsoft.com/office/drawing/2014/main" id="{744FB8D2-0D3C-47B7-A858-928196420DCC}"/>
              </a:ext>
            </a:extLst>
          </p:cNvPr>
          <p:cNvSpPr>
            <a:spLocks xmlns:a="http://schemas.openxmlformats.org/drawingml/2006/main" noGrp="1"/>
          </p:cNvSpPr>
          <p:nvPr/>
        </p:nvSpPr>
        <p:spPr>
          <a:xfrm xmlns:a="http://schemas.openxmlformats.org/drawingml/2006/main">
            <a:off x="800100" y="50577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Estimated result on the open quantity using a market price.</a:t>
            </a:r>
          </a:p>
        </p:txBody>
      </p:sp>
      <p:sp>
        <p:nvSpPr>
          <p:cNvPr id="11" name="">
            <a:extLst xmlns:a="http://schemas.openxmlformats.org/drawingml/2006/main">
              <a:ext uri="{FF2B5EF4-FFF2-40B4-BE49-F238E27FC236}">
                <a16:creationId xmlns:a16="http://schemas.microsoft.com/office/drawing/2014/main" id="{FAC05661-94EF-43D4-B4F7-558882C74DDD}"/>
              </a:ext>
            </a:extLst>
          </p:cNvPr>
          <p:cNvSpPr>
            <a:spLocks xmlns:a="http://schemas.openxmlformats.org/drawingml/2006/main" noGrp="1"/>
          </p:cNvSpPr>
          <p:nvPr/>
        </p:nvSpPr>
        <p:spPr>
          <a:xfrm xmlns:a="http://schemas.openxmlformats.org/drawingml/2006/main">
            <a:off x="6477000" y="453390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Total P&amp;L</a:t>
            </a:r>
          </a:p>
        </p:txBody>
      </p:sp>
      <p:sp>
        <p:nvSpPr>
          <p:cNvPr id="12" name="">
            <a:extLst xmlns:a="http://schemas.openxmlformats.org/drawingml/2006/main">
              <a:ext uri="{FF2B5EF4-FFF2-40B4-BE49-F238E27FC236}">
                <a16:creationId xmlns:a16="http://schemas.microsoft.com/office/drawing/2014/main" id="{E32140E0-4DA1-4944-857D-75D54687FC66}"/>
              </a:ext>
            </a:extLst>
          </p:cNvPr>
          <p:cNvSpPr>
            <a:spLocks xmlns:a="http://schemas.openxmlformats.org/drawingml/2006/main" noGrp="1"/>
          </p:cNvSpPr>
          <p:nvPr/>
        </p:nvSpPr>
        <p:spPr>
          <a:xfrm xmlns:a="http://schemas.openxmlformats.org/drawingml/2006/main">
            <a:off x="6477000" y="50577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Realized plus unrealized P&amp;L, plus additional revenue less additional costs.</a:t>
            </a:r>
          </a:p>
        </p:txBody>
      </p:sp>
    </p:spTree>
    <p:extLst>
      <p:ext uri="{BB962C8B-B14F-4D97-AF65-F5344CB8AC3E}">
        <p14:creationId xmlns:p14="http://schemas.microsoft.com/office/powerpoint/2010/main" val="2031810143"/>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2D6D29-7CD9-4363-B93D-A9A95B55CD73}"/>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WORKED EXAMPLE</a:t>
            </a:r>
          </a:p>
        </p:txBody>
      </p:sp>
      <p:sp>
        <p:nvSpPr>
          <p:cNvPr id="2" name="">
            <a:extLst xmlns:a="http://schemas.openxmlformats.org/drawingml/2006/main">
              <a:ext uri="{FF2B5EF4-FFF2-40B4-BE49-F238E27FC236}">
                <a16:creationId xmlns:a16="http://schemas.microsoft.com/office/drawing/2014/main" id="{7E979B35-7955-4ABF-88D5-47D4D96CC82C}"/>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A partial long trade</a:t>
            </a:r>
          </a:p>
        </p:txBody>
      </p:sp>
      <p:sp>
        <p:nvSpPr>
          <p:cNvPr id="3" name="">
            <a:extLst xmlns:a="http://schemas.openxmlformats.org/drawingml/2006/main">
              <a:ext uri="{FF2B5EF4-FFF2-40B4-BE49-F238E27FC236}">
                <a16:creationId xmlns:a16="http://schemas.microsoft.com/office/drawing/2014/main" id="{980281A0-A49D-4305-AD4D-109377202D42}"/>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Illustrative example in one reporting currency, with no extra costs.</a:t>
            </a:r>
          </a:p>
        </p:txBody>
      </p:sp>
      <p:sp>
        <p:nvSpPr>
          <p:cNvPr id="4" name="">
            <a:extLst xmlns:a="http://schemas.openxmlformats.org/drawingml/2006/main">
              <a:ext uri="{FF2B5EF4-FFF2-40B4-BE49-F238E27FC236}">
                <a16:creationId xmlns:a16="http://schemas.microsoft.com/office/drawing/2014/main" id="{BF6F3B4A-3474-417C-A573-E43FC8F6B455}"/>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1AE96B6-A906-4F35-B50F-165386E8DF2D}"/>
              </a:ext>
            </a:extLst>
          </p:cNvPr>
          <p:cNvSpPr>
            <a:spLocks xmlns:a="http://schemas.openxmlformats.org/drawingml/2006/main" noGrp="1"/>
          </p:cNvSpPr>
          <p:nvPr/>
        </p:nvSpPr>
        <p:spPr>
          <a:xfrm xmlns:a="http://schemas.openxmlformats.org/drawingml/2006/main">
            <a:off x="800100" y="28003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Buy</a:t>
            </a:r>
          </a:p>
        </p:txBody>
      </p:sp>
      <p:sp>
        <p:nvSpPr>
          <p:cNvPr id="6" name="">
            <a:extLst xmlns:a="http://schemas.openxmlformats.org/drawingml/2006/main">
              <a:ext uri="{FF2B5EF4-FFF2-40B4-BE49-F238E27FC236}">
                <a16:creationId xmlns:a16="http://schemas.microsoft.com/office/drawing/2014/main" id="{55441819-1452-4C7E-B1EB-C9B7ECDE640B}"/>
              </a:ext>
            </a:extLst>
          </p:cNvPr>
          <p:cNvSpPr>
            <a:spLocks xmlns:a="http://schemas.openxmlformats.org/drawingml/2006/main" noGrp="1"/>
          </p:cNvSpPr>
          <p:nvPr/>
        </p:nvSpPr>
        <p:spPr>
          <a:xfrm xmlns:a="http://schemas.openxmlformats.org/drawingml/2006/main">
            <a:off x="800100" y="33242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100 units × 10 = 1,000 purchase cost.</a:t>
            </a:r>
          </a:p>
        </p:txBody>
      </p:sp>
      <p:sp>
        <p:nvSpPr>
          <p:cNvPr id="7" name="">
            <a:extLst xmlns:a="http://schemas.openxmlformats.org/drawingml/2006/main">
              <a:ext uri="{FF2B5EF4-FFF2-40B4-BE49-F238E27FC236}">
                <a16:creationId xmlns:a16="http://schemas.microsoft.com/office/drawing/2014/main" id="{E3B9B30A-9D7C-4111-9085-80C2468A4217}"/>
              </a:ext>
            </a:extLst>
          </p:cNvPr>
          <p:cNvSpPr>
            <a:spLocks xmlns:a="http://schemas.openxmlformats.org/drawingml/2006/main" noGrp="1"/>
          </p:cNvSpPr>
          <p:nvPr/>
        </p:nvSpPr>
        <p:spPr>
          <a:xfrm xmlns:a="http://schemas.openxmlformats.org/drawingml/2006/main">
            <a:off x="4476750" y="28003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Sell</a:t>
            </a:r>
          </a:p>
        </p:txBody>
      </p:sp>
      <p:sp>
        <p:nvSpPr>
          <p:cNvPr id="8" name="">
            <a:extLst xmlns:a="http://schemas.openxmlformats.org/drawingml/2006/main">
              <a:ext uri="{FF2B5EF4-FFF2-40B4-BE49-F238E27FC236}">
                <a16:creationId xmlns:a16="http://schemas.microsoft.com/office/drawing/2014/main" id="{8F9E53A7-43BA-4A8E-9599-022E38D6A9BF}"/>
              </a:ext>
            </a:extLst>
          </p:cNvPr>
          <p:cNvSpPr>
            <a:spLocks xmlns:a="http://schemas.openxmlformats.org/drawingml/2006/main" noGrp="1"/>
          </p:cNvSpPr>
          <p:nvPr/>
        </p:nvSpPr>
        <p:spPr>
          <a:xfrm xmlns:a="http://schemas.openxmlformats.org/drawingml/2006/main">
            <a:off x="4476750" y="33242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40 units × 14 = 560 sales value.</a:t>
            </a:r>
          </a:p>
        </p:txBody>
      </p:sp>
      <p:sp>
        <p:nvSpPr>
          <p:cNvPr id="9" name="">
            <a:extLst xmlns:a="http://schemas.openxmlformats.org/drawingml/2006/main">
              <a:ext uri="{FF2B5EF4-FFF2-40B4-BE49-F238E27FC236}">
                <a16:creationId xmlns:a16="http://schemas.microsoft.com/office/drawing/2014/main" id="{BC285B32-8473-4775-9059-FB7975A38965}"/>
              </a:ext>
            </a:extLst>
          </p:cNvPr>
          <p:cNvSpPr>
            <a:spLocks xmlns:a="http://schemas.openxmlformats.org/drawingml/2006/main" noGrp="1"/>
          </p:cNvSpPr>
          <p:nvPr/>
        </p:nvSpPr>
        <p:spPr>
          <a:xfrm xmlns:a="http://schemas.openxmlformats.org/drawingml/2006/main">
            <a:off x="8153400" y="28003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Realized profit</a:t>
            </a:r>
          </a:p>
        </p:txBody>
      </p:sp>
      <p:sp>
        <p:nvSpPr>
          <p:cNvPr id="10" name="">
            <a:extLst xmlns:a="http://schemas.openxmlformats.org/drawingml/2006/main">
              <a:ext uri="{FF2B5EF4-FFF2-40B4-BE49-F238E27FC236}">
                <a16:creationId xmlns:a16="http://schemas.microsoft.com/office/drawing/2014/main" id="{D777E9A8-882C-4193-AF62-7884597DFA79}"/>
              </a:ext>
            </a:extLst>
          </p:cNvPr>
          <p:cNvSpPr>
            <a:spLocks xmlns:a="http://schemas.openxmlformats.org/drawingml/2006/main" noGrp="1"/>
          </p:cNvSpPr>
          <p:nvPr/>
        </p:nvSpPr>
        <p:spPr>
          <a:xfrm xmlns:a="http://schemas.openxmlformats.org/drawingml/2006/main">
            <a:off x="8153400" y="33242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40 × (14 − 10) = 160.</a:t>
            </a:r>
          </a:p>
        </p:txBody>
      </p:sp>
      <p:sp>
        <p:nvSpPr>
          <p:cNvPr id="11" name="">
            <a:extLst xmlns:a="http://schemas.openxmlformats.org/drawingml/2006/main">
              <a:ext uri="{FF2B5EF4-FFF2-40B4-BE49-F238E27FC236}">
                <a16:creationId xmlns:a16="http://schemas.microsoft.com/office/drawing/2014/main" id="{A7B71167-58E4-404B-A73B-0FCA9B6056A3}"/>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At a market price of 12, open profit is 60 × (12 − 10) = 120. Total P&amp;L is 280.</a:t>
            </a:r>
          </a:p>
        </p:txBody>
      </p:sp>
    </p:spTree>
    <p:extLst>
      <p:ext uri="{BB962C8B-B14F-4D97-AF65-F5344CB8AC3E}">
        <p14:creationId xmlns:p14="http://schemas.microsoft.com/office/powerpoint/2010/main" val="1164954338"/>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253A47-94ED-436B-9E96-E3B643F4373E}"/>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FINANCIAL ACCURACY</a:t>
            </a:r>
          </a:p>
        </p:txBody>
      </p:sp>
      <p:sp>
        <p:nvSpPr>
          <p:cNvPr id="2" name="">
            <a:extLst xmlns:a="http://schemas.openxmlformats.org/drawingml/2006/main">
              <a:ext uri="{FF2B5EF4-FFF2-40B4-BE49-F238E27FC236}">
                <a16:creationId xmlns:a16="http://schemas.microsoft.com/office/drawing/2014/main" id="{7DDD37DD-4773-4B72-A2FA-6E1D7C419DE7}"/>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Currency and invoice lifecycle</a:t>
            </a:r>
          </a:p>
        </p:txBody>
      </p:sp>
      <p:sp>
        <p:nvSpPr>
          <p:cNvPr id="3" name="">
            <a:extLst xmlns:a="http://schemas.openxmlformats.org/drawingml/2006/main">
              <a:ext uri="{FF2B5EF4-FFF2-40B4-BE49-F238E27FC236}">
                <a16:creationId xmlns:a16="http://schemas.microsoft.com/office/drawing/2014/main" id="{5594FFEB-8590-4D30-B463-6014F2314A8F}"/>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module keeps financial changes tied to the documents that caused them.</a:t>
            </a:r>
          </a:p>
        </p:txBody>
      </p:sp>
      <p:sp>
        <p:nvSpPr>
          <p:cNvPr id="4" name="">
            <a:extLst xmlns:a="http://schemas.openxmlformats.org/drawingml/2006/main">
              <a:ext uri="{FF2B5EF4-FFF2-40B4-BE49-F238E27FC236}">
                <a16:creationId xmlns:a16="http://schemas.microsoft.com/office/drawing/2014/main" id="{09582888-A69D-48F9-B7BA-D3B411475576}"/>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2AAA3331-5FA2-4BFB-BE00-3C76E3FAE12E}"/>
              </a:ext>
            </a:extLst>
          </p:cNvPr>
          <p:cNvSpPr>
            <a:spLocks xmlns:a="http://schemas.openxmlformats.org/drawingml/2006/main" noGrp="1"/>
          </p:cNvSpPr>
          <p:nvPr/>
        </p:nvSpPr>
        <p:spPr>
          <a:xfrm xmlns:a="http://schemas.openxmlformats.org/drawingml/2006/main">
            <a:off x="800100" y="2847975"/>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Transaction-date FX</a:t>
            </a:r>
          </a:p>
        </p:txBody>
      </p:sp>
      <p:sp>
        <p:nvSpPr>
          <p:cNvPr id="6" name="">
            <a:extLst xmlns:a="http://schemas.openxmlformats.org/drawingml/2006/main">
              <a:ext uri="{FF2B5EF4-FFF2-40B4-BE49-F238E27FC236}">
                <a16:creationId xmlns:a16="http://schemas.microsoft.com/office/drawing/2014/main" id="{5B20F28A-8610-4909-A744-A3546F39DF31}"/>
              </a:ext>
            </a:extLst>
          </p:cNvPr>
          <p:cNvSpPr>
            <a:spLocks xmlns:a="http://schemas.openxmlformats.org/drawingml/2006/main" noGrp="1"/>
          </p:cNvSpPr>
          <p:nvPr/>
        </p:nvSpPr>
        <p:spPr>
          <a:xfrm xmlns:a="http://schemas.openxmlformats.org/drawingml/2006/main">
            <a:off x="800100" y="3371850"/>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2333"/>
                </a:solidFill>
                <a:latin typeface="Arial"/>
                <a:ea typeface="Arial"/>
                <a:cs typeface="Arial"/>
              </a:defRPr>
            </a:pPr>
            <a:r>
              <a:rPr sz="1575" b="0">
                <a:solidFill>
                  <a:srgbClr val="142333"/>
                </a:solidFill>
                <a:latin typeface="Arial"/>
                <a:ea typeface="Arial"/>
                <a:cs typeface="Arial"/>
              </a:rPr>
              <a:t>Each transaction converts at the rate from its own date. Mixed-currency sales blend in the reporting currency.</a:t>
            </a:r>
          </a:p>
        </p:txBody>
      </p:sp>
      <p:sp>
        <p:nvSpPr>
          <p:cNvPr id="7" name="">
            <a:extLst xmlns:a="http://schemas.openxmlformats.org/drawingml/2006/main">
              <a:ext uri="{FF2B5EF4-FFF2-40B4-BE49-F238E27FC236}">
                <a16:creationId xmlns:a16="http://schemas.microsoft.com/office/drawing/2014/main" id="{729CDEC4-F6EF-447D-9E95-B6F3AE133E62}"/>
              </a:ext>
            </a:extLst>
          </p:cNvPr>
          <p:cNvSpPr>
            <a:spLocks xmlns:a="http://schemas.openxmlformats.org/drawingml/2006/main" noGrp="1"/>
          </p:cNvSpPr>
          <p:nvPr/>
        </p:nvSpPr>
        <p:spPr>
          <a:xfrm xmlns:a="http://schemas.openxmlformats.org/drawingml/2006/main">
            <a:off x="6477000" y="2847975"/>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Additional amounts</a:t>
            </a:r>
          </a:p>
        </p:txBody>
      </p:sp>
      <p:sp>
        <p:nvSpPr>
          <p:cNvPr id="8" name="">
            <a:extLst xmlns:a="http://schemas.openxmlformats.org/drawingml/2006/main">
              <a:ext uri="{FF2B5EF4-FFF2-40B4-BE49-F238E27FC236}">
                <a16:creationId xmlns:a16="http://schemas.microsoft.com/office/drawing/2014/main" id="{BF731262-9FA3-45CA-B145-3DCA70EB976C}"/>
              </a:ext>
            </a:extLst>
          </p:cNvPr>
          <p:cNvSpPr>
            <a:spLocks xmlns:a="http://schemas.openxmlformats.org/drawingml/2006/main" noGrp="1"/>
          </p:cNvSpPr>
          <p:nvPr/>
        </p:nvSpPr>
        <p:spPr>
          <a:xfrm xmlns:a="http://schemas.openxmlformats.org/drawingml/2006/main">
            <a:off x="6477000" y="3371850"/>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42333"/>
                </a:solidFill>
                <a:latin typeface="Arial"/>
                <a:ea typeface="Arial"/>
                <a:cs typeface="Arial"/>
              </a:defRPr>
            </a:pPr>
            <a:r>
              <a:rPr sz="1575" b="0">
                <a:solidFill>
                  <a:srgbClr val="142333"/>
                </a:solidFill>
                <a:latin typeface="Arial"/>
                <a:ea typeface="Arial"/>
                <a:cs typeface="Arial"/>
              </a:rPr>
              <a:t>Linked bills and invoices add cost or revenue beyond the original order values.</a:t>
            </a:r>
          </a:p>
        </p:txBody>
      </p:sp>
      <p:sp>
        <p:nvSpPr>
          <p:cNvPr id="9" name="">
            <a:extLst xmlns:a="http://schemas.openxmlformats.org/drawingml/2006/main">
              <a:ext uri="{FF2B5EF4-FFF2-40B4-BE49-F238E27FC236}">
                <a16:creationId xmlns:a16="http://schemas.microsoft.com/office/drawing/2014/main" id="{89FAF821-D964-495D-8865-96AD52462E91}"/>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Resetting or unlinking a linked invoice reverses its recorded contribution.</a:t>
            </a:r>
          </a:p>
        </p:txBody>
      </p:sp>
    </p:spTree>
    <p:extLst>
      <p:ext uri="{BB962C8B-B14F-4D97-AF65-F5344CB8AC3E}">
        <p14:creationId xmlns:p14="http://schemas.microsoft.com/office/powerpoint/2010/main" val="889494802"/>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F9DA4D-E19E-4D50-9579-A02EECF2E52F}"/>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INVENTORY</a:t>
            </a:r>
          </a:p>
        </p:txBody>
      </p:sp>
      <p:sp>
        <p:nvSpPr>
          <p:cNvPr id="2" name="">
            <a:extLst xmlns:a="http://schemas.openxmlformats.org/drawingml/2006/main">
              <a:ext uri="{FF2B5EF4-FFF2-40B4-BE49-F238E27FC236}">
                <a16:creationId xmlns:a16="http://schemas.microsoft.com/office/drawing/2014/main" id="{9D59B5AC-FC89-4774-A6B0-863D6D70D024}"/>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Commercial position and physical stock</a:t>
            </a:r>
          </a:p>
        </p:txBody>
      </p:sp>
      <p:sp>
        <p:nvSpPr>
          <p:cNvPr id="3" name="">
            <a:extLst xmlns:a="http://schemas.openxmlformats.org/drawingml/2006/main">
              <a:ext uri="{FF2B5EF4-FFF2-40B4-BE49-F238E27FC236}">
                <a16:creationId xmlns:a16="http://schemas.microsoft.com/office/drawing/2014/main" id="{EF95E833-D504-447D-B1B3-68B95BD5ED49}"/>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module deliberately keeps two quantities because they describe different states.</a:t>
            </a:r>
          </a:p>
        </p:txBody>
      </p:sp>
      <p:sp>
        <p:nvSpPr>
          <p:cNvPr id="4" name="">
            <a:extLst xmlns:a="http://schemas.openxmlformats.org/drawingml/2006/main">
              <a:ext uri="{FF2B5EF4-FFF2-40B4-BE49-F238E27FC236}">
                <a16:creationId xmlns:a16="http://schemas.microsoft.com/office/drawing/2014/main" id="{23C3D2C8-226F-4566-AD13-1BDC4E2E2E35}"/>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330CC30-EF02-4A3C-BE47-2053AD1D257F}"/>
              </a:ext>
            </a:extLst>
          </p:cNvPr>
          <p:cNvSpPr>
            <a:spLocks xmlns:a="http://schemas.openxmlformats.org/drawingml/2006/main" noGrp="1"/>
          </p:cNvSpPr>
          <p:nvPr/>
        </p:nvSpPr>
        <p:spPr>
          <a:xfrm xmlns:a="http://schemas.openxmlformats.org/drawingml/2006/main">
            <a:off x="800100" y="291465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Open position</a:t>
            </a:r>
          </a:p>
        </p:txBody>
      </p:sp>
      <p:sp>
        <p:nvSpPr>
          <p:cNvPr id="6" name="">
            <a:extLst xmlns:a="http://schemas.openxmlformats.org/drawingml/2006/main">
              <a:ext uri="{FF2B5EF4-FFF2-40B4-BE49-F238E27FC236}">
                <a16:creationId xmlns:a16="http://schemas.microsoft.com/office/drawing/2014/main" id="{8B2E35BE-F66D-405F-83D6-CC256F0AF537}"/>
              </a:ext>
            </a:extLst>
          </p:cNvPr>
          <p:cNvSpPr>
            <a:spLocks xmlns:a="http://schemas.openxmlformats.org/drawingml/2006/main" noGrp="1"/>
          </p:cNvSpPr>
          <p:nvPr/>
        </p:nvSpPr>
        <p:spPr>
          <a:xfrm xmlns:a="http://schemas.openxmlformats.org/drawingml/2006/main">
            <a:off x="800100" y="343852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Calculated from confirmed purchase and sale quantities.</a:t>
            </a:r>
          </a:p>
        </p:txBody>
      </p:sp>
      <p:sp>
        <p:nvSpPr>
          <p:cNvPr id="7" name="">
            <a:extLst xmlns:a="http://schemas.openxmlformats.org/drawingml/2006/main">
              <a:ext uri="{FF2B5EF4-FFF2-40B4-BE49-F238E27FC236}">
                <a16:creationId xmlns:a16="http://schemas.microsoft.com/office/drawing/2014/main" id="{211AF3E4-9EB7-424F-8738-9EB2800ED110}"/>
              </a:ext>
            </a:extLst>
          </p:cNvPr>
          <p:cNvSpPr>
            <a:spLocks xmlns:a="http://schemas.openxmlformats.org/drawingml/2006/main" noGrp="1"/>
          </p:cNvSpPr>
          <p:nvPr/>
        </p:nvSpPr>
        <p:spPr>
          <a:xfrm xmlns:a="http://schemas.openxmlformats.org/drawingml/2006/main">
            <a:off x="6477000" y="291465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On hand</a:t>
            </a:r>
          </a:p>
        </p:txBody>
      </p:sp>
      <p:sp>
        <p:nvSpPr>
          <p:cNvPr id="8" name="">
            <a:extLst xmlns:a="http://schemas.openxmlformats.org/drawingml/2006/main">
              <a:ext uri="{FF2B5EF4-FFF2-40B4-BE49-F238E27FC236}">
                <a16:creationId xmlns:a16="http://schemas.microsoft.com/office/drawing/2014/main" id="{2A72C6A4-4631-40C6-8181-892593F11139}"/>
              </a:ext>
            </a:extLst>
          </p:cNvPr>
          <p:cNvSpPr>
            <a:spLocks xmlns:a="http://schemas.openxmlformats.org/drawingml/2006/main" noGrp="1"/>
          </p:cNvSpPr>
          <p:nvPr/>
        </p:nvSpPr>
        <p:spPr>
          <a:xfrm xmlns:a="http://schemas.openxmlformats.org/drawingml/2006/main">
            <a:off x="6477000" y="343852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Calculated from stock lots linked through validated receipts.</a:t>
            </a:r>
          </a:p>
        </p:txBody>
      </p:sp>
      <p:sp>
        <p:nvSpPr>
          <p:cNvPr id="9" name="">
            <a:extLst xmlns:a="http://schemas.openxmlformats.org/drawingml/2006/main">
              <a:ext uri="{FF2B5EF4-FFF2-40B4-BE49-F238E27FC236}">
                <a16:creationId xmlns:a16="http://schemas.microsoft.com/office/drawing/2014/main" id="{DAEABC3A-BD12-4F3E-9878-C0C345C6CB72}"/>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They can differ while goods are awaiting receipt or delivery.</a:t>
            </a:r>
          </a:p>
        </p:txBody>
      </p:sp>
    </p:spTree>
    <p:extLst>
      <p:ext uri="{BB962C8B-B14F-4D97-AF65-F5344CB8AC3E}">
        <p14:creationId xmlns:p14="http://schemas.microsoft.com/office/powerpoint/2010/main" val="2106709274"/>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ED2F7E-4616-45A4-8CC2-58FFF88F8B51}"/>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ADDITIONAL CAPABILITIES</a:t>
            </a:r>
          </a:p>
        </p:txBody>
      </p:sp>
      <p:sp>
        <p:nvSpPr>
          <p:cNvPr id="2" name="">
            <a:extLst xmlns:a="http://schemas.openxmlformats.org/drawingml/2006/main">
              <a:ext uri="{FF2B5EF4-FFF2-40B4-BE49-F238E27FC236}">
                <a16:creationId xmlns:a16="http://schemas.microsoft.com/office/drawing/2014/main" id="{D1C4D14D-819F-40DC-B0A6-A8255BE68919}"/>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Budgets, reporting and the roadmap</a:t>
            </a:r>
          </a:p>
        </p:txBody>
      </p:sp>
      <p:sp>
        <p:nvSpPr>
          <p:cNvPr id="3" name="">
            <a:extLst xmlns:a="http://schemas.openxmlformats.org/drawingml/2006/main">
              <a:ext uri="{FF2B5EF4-FFF2-40B4-BE49-F238E27FC236}">
                <a16:creationId xmlns:a16="http://schemas.microsoft.com/office/drawing/2014/main" id="{458736D7-B0D9-4CF7-A528-FFD303851276}"/>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current module can be extended without changing the role of the central Trade.</a:t>
            </a:r>
          </a:p>
        </p:txBody>
      </p:sp>
      <p:sp>
        <p:nvSpPr>
          <p:cNvPr id="4" name="">
            <a:extLst xmlns:a="http://schemas.openxmlformats.org/drawingml/2006/main">
              <a:ext uri="{FF2B5EF4-FFF2-40B4-BE49-F238E27FC236}">
                <a16:creationId xmlns:a16="http://schemas.microsoft.com/office/drawing/2014/main" id="{1A638316-384D-4A7C-A451-06AB0A5DA80C}"/>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B120DD1-8EED-438C-B7C3-23BA6FD5D4E7}"/>
              </a:ext>
            </a:extLst>
          </p:cNvPr>
          <p:cNvSpPr>
            <a:spLocks xmlns:a="http://schemas.openxmlformats.org/drawingml/2006/main" noGrp="1"/>
          </p:cNvSpPr>
          <p:nvPr/>
        </p:nvSpPr>
        <p:spPr>
          <a:xfrm xmlns:a="http://schemas.openxmlformats.org/drawingml/2006/main">
            <a:off x="800100" y="27813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Optional budgets</a:t>
            </a:r>
          </a:p>
        </p:txBody>
      </p:sp>
      <p:sp>
        <p:nvSpPr>
          <p:cNvPr id="6" name="">
            <a:extLst xmlns:a="http://schemas.openxmlformats.org/drawingml/2006/main">
              <a:ext uri="{FF2B5EF4-FFF2-40B4-BE49-F238E27FC236}">
                <a16:creationId xmlns:a16="http://schemas.microsoft.com/office/drawing/2014/main" id="{FC210547-A8CA-492A-945D-F914BBA1A217}"/>
              </a:ext>
            </a:extLst>
          </p:cNvPr>
          <p:cNvSpPr>
            <a:spLocks xmlns:a="http://schemas.openxmlformats.org/drawingml/2006/main" noGrp="1"/>
          </p:cNvSpPr>
          <p:nvPr/>
        </p:nvSpPr>
        <p:spPr>
          <a:xfrm xmlns:a="http://schemas.openxmlformats.org/drawingml/2006/main">
            <a:off x="800100" y="33051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Additional costs and revenue are synced from bills, invoices and expenses. Analytic account integration remains planned.</a:t>
            </a:r>
          </a:p>
        </p:txBody>
      </p:sp>
      <p:sp>
        <p:nvSpPr>
          <p:cNvPr id="7" name="">
            <a:extLst xmlns:a="http://schemas.openxmlformats.org/drawingml/2006/main">
              <a:ext uri="{FF2B5EF4-FFF2-40B4-BE49-F238E27FC236}">
                <a16:creationId xmlns:a16="http://schemas.microsoft.com/office/drawing/2014/main" id="{3DC89D51-CE13-470F-8C0F-E448F34C728F}"/>
              </a:ext>
            </a:extLst>
          </p:cNvPr>
          <p:cNvSpPr>
            <a:spLocks xmlns:a="http://schemas.openxmlformats.org/drawingml/2006/main" noGrp="1"/>
          </p:cNvSpPr>
          <p:nvPr/>
        </p:nvSpPr>
        <p:spPr>
          <a:xfrm xmlns:a="http://schemas.openxmlformats.org/drawingml/2006/main">
            <a:off x="4476750" y="27813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Reporting</a:t>
            </a:r>
          </a:p>
        </p:txBody>
      </p:sp>
      <p:sp>
        <p:nvSpPr>
          <p:cNvPr id="8" name="">
            <a:extLst xmlns:a="http://schemas.openxmlformats.org/drawingml/2006/main">
              <a:ext uri="{FF2B5EF4-FFF2-40B4-BE49-F238E27FC236}">
                <a16:creationId xmlns:a16="http://schemas.microsoft.com/office/drawing/2014/main" id="{FE2BBB5C-A8FB-43E0-8A59-2675C22974D8}"/>
              </a:ext>
            </a:extLst>
          </p:cNvPr>
          <p:cNvSpPr>
            <a:spLocks xmlns:a="http://schemas.openxmlformats.org/drawingml/2006/main" noGrp="1"/>
          </p:cNvSpPr>
          <p:nvPr/>
        </p:nvSpPr>
        <p:spPr>
          <a:xfrm xmlns:a="http://schemas.openxmlformats.org/drawingml/2006/main">
            <a:off x="4476750" y="33051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List, Kanban, graph and pivot views with trade, status and profitability filters.</a:t>
            </a:r>
          </a:p>
        </p:txBody>
      </p:sp>
      <p:sp>
        <p:nvSpPr>
          <p:cNvPr id="9" name="">
            <a:extLst xmlns:a="http://schemas.openxmlformats.org/drawingml/2006/main">
              <a:ext uri="{FF2B5EF4-FFF2-40B4-BE49-F238E27FC236}">
                <a16:creationId xmlns:a16="http://schemas.microsoft.com/office/drawing/2014/main" id="{AAD8F130-6250-4A7B-8479-3CBC04D6A1EE}"/>
              </a:ext>
            </a:extLst>
          </p:cNvPr>
          <p:cNvSpPr>
            <a:spLocks xmlns:a="http://schemas.openxmlformats.org/drawingml/2006/main" noGrp="1"/>
          </p:cNvSpPr>
          <p:nvPr/>
        </p:nvSpPr>
        <p:spPr>
          <a:xfrm xmlns:a="http://schemas.openxmlformats.org/drawingml/2006/main">
            <a:off x="8153400" y="278130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Futures roadmap</a:t>
            </a:r>
          </a:p>
        </p:txBody>
      </p:sp>
      <p:sp>
        <p:nvSpPr>
          <p:cNvPr id="10" name="">
            <a:extLst xmlns:a="http://schemas.openxmlformats.org/drawingml/2006/main">
              <a:ext uri="{FF2B5EF4-FFF2-40B4-BE49-F238E27FC236}">
                <a16:creationId xmlns:a16="http://schemas.microsoft.com/office/drawing/2014/main" id="{BD87DAE8-B2B6-46F6-A6E4-70AE06057829}"/>
              </a:ext>
            </a:extLst>
          </p:cNvPr>
          <p:cNvSpPr>
            <a:spLocks xmlns:a="http://schemas.openxmlformats.org/drawingml/2006/main" noGrp="1"/>
          </p:cNvSpPr>
          <p:nvPr/>
        </p:nvSpPr>
        <p:spPr>
          <a:xfrm xmlns:a="http://schemas.openxmlformats.org/drawingml/2006/main">
            <a:off x="8153400" y="330517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Contract terms, delivery balances and contract P&amp;L are planned, but are not currently available.</a:t>
            </a:r>
          </a:p>
        </p:txBody>
      </p:sp>
      <p:sp>
        <p:nvSpPr>
          <p:cNvPr id="11" name="">
            <a:extLst xmlns:a="http://schemas.openxmlformats.org/drawingml/2006/main">
              <a:ext uri="{FF2B5EF4-FFF2-40B4-BE49-F238E27FC236}">
                <a16:creationId xmlns:a16="http://schemas.microsoft.com/office/drawing/2014/main" id="{58652738-83C7-404A-BA32-CFB50F268A21}"/>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Budget variance appears after the Trade is fully matched.</a:t>
            </a:r>
          </a:p>
        </p:txBody>
      </p:sp>
    </p:spTree>
    <p:extLst>
      <p:ext uri="{BB962C8B-B14F-4D97-AF65-F5344CB8AC3E}">
        <p14:creationId xmlns:p14="http://schemas.microsoft.com/office/powerpoint/2010/main" val="461874341"/>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B1E302-0D0A-48B6-8029-B86156E9DC81}"/>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FOR THE TECH TEAM</a:t>
            </a:r>
          </a:p>
        </p:txBody>
      </p:sp>
      <p:sp>
        <p:nvSpPr>
          <p:cNvPr id="2" name="">
            <a:extLst xmlns:a="http://schemas.openxmlformats.org/drawingml/2006/main">
              <a:ext uri="{FF2B5EF4-FFF2-40B4-BE49-F238E27FC236}">
                <a16:creationId xmlns:a16="http://schemas.microsoft.com/office/drawing/2014/main" id="{80A7F1AA-069C-457F-872E-772148A6CBE3}"/>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How it is wired into Odoo</a:t>
            </a:r>
          </a:p>
        </p:txBody>
      </p:sp>
      <p:sp>
        <p:nvSpPr>
          <p:cNvPr id="3" name="">
            <a:extLst xmlns:a="http://schemas.openxmlformats.org/drawingml/2006/main">
              <a:ext uri="{FF2B5EF4-FFF2-40B4-BE49-F238E27FC236}">
                <a16:creationId xmlns:a16="http://schemas.microsoft.com/office/drawing/2014/main" id="{E4507CC7-03E6-4E9F-947F-6D991B67B652}"/>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The core model is trading.trade; existing Odoo models gain a Trade link and lifecycle hooks.</a:t>
            </a:r>
          </a:p>
        </p:txBody>
      </p:sp>
      <p:sp>
        <p:nvSpPr>
          <p:cNvPr id="4" name="">
            <a:extLst xmlns:a="http://schemas.openxmlformats.org/drawingml/2006/main">
              <a:ext uri="{FF2B5EF4-FFF2-40B4-BE49-F238E27FC236}">
                <a16:creationId xmlns:a16="http://schemas.microsoft.com/office/drawing/2014/main" id="{0B666696-F4E4-4536-89AF-6157E22DB525}"/>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2D659BA-5DC0-4532-B890-566DD97771B7}"/>
              </a:ext>
            </a:extLst>
          </p:cNvPr>
          <p:cNvSpPr>
            <a:spLocks xmlns:a="http://schemas.openxmlformats.org/drawingml/2006/main" noGrp="1"/>
          </p:cNvSpPr>
          <p:nvPr/>
        </p:nvSpPr>
        <p:spPr>
          <a:xfrm xmlns:a="http://schemas.openxmlformats.org/drawingml/2006/main">
            <a:off x="80010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Order hooks</a:t>
            </a:r>
          </a:p>
        </p:txBody>
      </p:sp>
      <p:sp>
        <p:nvSpPr>
          <p:cNvPr id="6" name="">
            <a:extLst xmlns:a="http://schemas.openxmlformats.org/drawingml/2006/main">
              <a:ext uri="{FF2B5EF4-FFF2-40B4-BE49-F238E27FC236}">
                <a16:creationId xmlns:a16="http://schemas.microsoft.com/office/drawing/2014/main" id="{2F0C1A75-7DB1-42B5-9B23-3BE9241686B6}"/>
              </a:ext>
            </a:extLst>
          </p:cNvPr>
          <p:cNvSpPr>
            <a:spLocks xmlns:a="http://schemas.openxmlformats.org/drawingml/2006/main" noGrp="1"/>
          </p:cNvSpPr>
          <p:nvPr/>
        </p:nvSpPr>
        <p:spPr>
          <a:xfrm xmlns:a="http://schemas.openxmlformats.org/drawingml/2006/main">
            <a:off x="80010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purchase.order.button_confirm and sale.order.action_confirm create or link Trades.</a:t>
            </a:r>
          </a:p>
        </p:txBody>
      </p:sp>
      <p:sp>
        <p:nvSpPr>
          <p:cNvPr id="7" name="">
            <a:extLst xmlns:a="http://schemas.openxmlformats.org/drawingml/2006/main">
              <a:ext uri="{FF2B5EF4-FFF2-40B4-BE49-F238E27FC236}">
                <a16:creationId xmlns:a16="http://schemas.microsoft.com/office/drawing/2014/main" id="{1156D1BB-332F-4CB5-9268-71A8F5749DDA}"/>
              </a:ext>
            </a:extLst>
          </p:cNvPr>
          <p:cNvSpPr>
            <a:spLocks xmlns:a="http://schemas.openxmlformats.org/drawingml/2006/main" noGrp="1"/>
          </p:cNvSpPr>
          <p:nvPr/>
        </p:nvSpPr>
        <p:spPr>
          <a:xfrm xmlns:a="http://schemas.openxmlformats.org/drawingml/2006/main">
            <a:off x="447675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Accounting hooks</a:t>
            </a:r>
          </a:p>
        </p:txBody>
      </p:sp>
      <p:sp>
        <p:nvSpPr>
          <p:cNvPr id="8" name="">
            <a:extLst xmlns:a="http://schemas.openxmlformats.org/drawingml/2006/main">
              <a:ext uri="{FF2B5EF4-FFF2-40B4-BE49-F238E27FC236}">
                <a16:creationId xmlns:a16="http://schemas.microsoft.com/office/drawing/2014/main" id="{5B6A2ECA-4414-4A9C-B848-AAABD5A61F4C}"/>
              </a:ext>
            </a:extLst>
          </p:cNvPr>
          <p:cNvSpPr>
            <a:spLocks xmlns:a="http://schemas.openxmlformats.org/drawingml/2006/main" noGrp="1"/>
          </p:cNvSpPr>
          <p:nvPr/>
        </p:nvSpPr>
        <p:spPr>
          <a:xfrm xmlns:a="http://schemas.openxmlformats.org/drawingml/2006/main">
            <a:off x="447675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account.move posting, draft reset and unlink manage financial contributions.</a:t>
            </a:r>
          </a:p>
        </p:txBody>
      </p:sp>
      <p:sp>
        <p:nvSpPr>
          <p:cNvPr id="9" name="">
            <a:extLst xmlns:a="http://schemas.openxmlformats.org/drawingml/2006/main">
              <a:ext uri="{FF2B5EF4-FFF2-40B4-BE49-F238E27FC236}">
                <a16:creationId xmlns:a16="http://schemas.microsoft.com/office/drawing/2014/main" id="{ACF01A8C-A225-4047-B75C-9E621C3FFF9C}"/>
              </a:ext>
            </a:extLst>
          </p:cNvPr>
          <p:cNvSpPr>
            <a:spLocks xmlns:a="http://schemas.openxmlformats.org/drawingml/2006/main" noGrp="1"/>
          </p:cNvSpPr>
          <p:nvPr/>
        </p:nvSpPr>
        <p:spPr>
          <a:xfrm xmlns:a="http://schemas.openxmlformats.org/drawingml/2006/main">
            <a:off x="8153400" y="280987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Stock hook</a:t>
            </a:r>
          </a:p>
        </p:txBody>
      </p:sp>
      <p:sp>
        <p:nvSpPr>
          <p:cNvPr id="10" name="">
            <a:extLst xmlns:a="http://schemas.openxmlformats.org/drawingml/2006/main">
              <a:ext uri="{FF2B5EF4-FFF2-40B4-BE49-F238E27FC236}">
                <a16:creationId xmlns:a16="http://schemas.microsoft.com/office/drawing/2014/main" id="{1D79CE99-169E-4809-BF9C-3180B7E0AE31}"/>
              </a:ext>
            </a:extLst>
          </p:cNvPr>
          <p:cNvSpPr>
            <a:spLocks xmlns:a="http://schemas.openxmlformats.org/drawingml/2006/main" noGrp="1"/>
          </p:cNvSpPr>
          <p:nvPr/>
        </p:nvSpPr>
        <p:spPr>
          <a:xfrm xmlns:a="http://schemas.openxmlformats.org/drawingml/2006/main">
            <a:off x="8153400" y="3333750"/>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42333"/>
                </a:solidFill>
                <a:latin typeface="Arial"/>
                <a:ea typeface="Arial"/>
                <a:cs typeface="Arial"/>
              </a:defRPr>
            </a:pPr>
            <a:r>
              <a:rPr sz="1500" b="0">
                <a:solidFill>
                  <a:srgbClr val="142333"/>
                </a:solidFill>
                <a:latin typeface="Arial"/>
                <a:ea typeface="Arial"/>
                <a:cs typeface="Arial"/>
              </a:rPr>
              <a:t>stock.picking validation links lots and updates physical quantity.</a:t>
            </a:r>
          </a:p>
        </p:txBody>
      </p:sp>
      <p:sp>
        <p:nvSpPr>
          <p:cNvPr id="11" name="">
            <a:extLst xmlns:a="http://schemas.openxmlformats.org/drawingml/2006/main">
              <a:ext uri="{FF2B5EF4-FFF2-40B4-BE49-F238E27FC236}">
                <a16:creationId xmlns:a16="http://schemas.microsoft.com/office/drawing/2014/main" id="{76C2FB43-A5CA-4FBD-81A0-B65128443810}"/>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Stored computed fields make position and P&amp;L available in views and reports.</a:t>
            </a:r>
          </a:p>
        </p:txBody>
      </p:sp>
    </p:spTree>
    <p:extLst>
      <p:ext uri="{BB962C8B-B14F-4D97-AF65-F5344CB8AC3E}">
        <p14:creationId xmlns:p14="http://schemas.microsoft.com/office/powerpoint/2010/main" val="1649453063"/>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3EAE7C-7A64-4134-9133-6B84E85D2003}"/>
              </a:ext>
            </a:extLst>
          </p:cNvPr>
          <p:cNvSpPr>
            <a:spLocks xmlns:a="http://schemas.openxmlformats.org/drawingml/2006/main" noGrp="1"/>
          </p:cNvSpPr>
          <p:nvPr/>
        </p:nvSpPr>
        <p:spPr>
          <a:xfrm xmlns:a="http://schemas.openxmlformats.org/drawingml/2006/main">
            <a:off x="723900" y="419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B95A38"/>
                </a:solidFill>
                <a:latin typeface="Arial"/>
                <a:ea typeface="Arial"/>
                <a:cs typeface="Arial"/>
              </a:defRPr>
            </a:pPr>
            <a:r>
              <a:rPr sz="1275" b="1">
                <a:solidFill>
                  <a:srgbClr val="B95A38"/>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545D8D3B-C285-4818-BF08-547E2EBEF6E6}"/>
              </a:ext>
            </a:extLst>
          </p:cNvPr>
          <p:cNvSpPr>
            <a:spLocks xmlns:a="http://schemas.openxmlformats.org/drawingml/2006/main" noGrp="1"/>
          </p:cNvSpPr>
          <p:nvPr/>
        </p:nvSpPr>
        <p:spPr>
          <a:xfrm xmlns:a="http://schemas.openxmlformats.org/drawingml/2006/main">
            <a:off x="723900" y="9334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0">
                <a:solidFill>
                  <a:srgbClr val="142333"/>
                </a:solidFill>
                <a:latin typeface="Georgia"/>
                <a:ea typeface="Georgia"/>
                <a:cs typeface="Georgia"/>
              </a:defRPr>
            </a:pPr>
            <a:r>
              <a:rPr sz="3525" b="0">
                <a:solidFill>
                  <a:srgbClr val="142333"/>
                </a:solidFill>
                <a:latin typeface="Georgia"/>
                <a:ea typeface="Georgia"/>
                <a:cs typeface="Georgia"/>
              </a:rPr>
              <a:t>A seven-minute path through Odoo</a:t>
            </a:r>
          </a:p>
        </p:txBody>
      </p:sp>
      <p:sp>
        <p:nvSpPr>
          <p:cNvPr id="3" name="">
            <a:extLst xmlns:a="http://schemas.openxmlformats.org/drawingml/2006/main">
              <a:ext uri="{FF2B5EF4-FFF2-40B4-BE49-F238E27FC236}">
                <a16:creationId xmlns:a16="http://schemas.microsoft.com/office/drawing/2014/main" id="{2C3D4853-4CB7-4817-A9F2-17911F47C1AA}"/>
              </a:ext>
            </a:extLst>
          </p:cNvPr>
          <p:cNvSpPr>
            <a:spLocks xmlns:a="http://schemas.openxmlformats.org/drawingml/2006/main" noGrp="1"/>
          </p:cNvSpPr>
          <p:nvPr/>
        </p:nvSpPr>
        <p:spPr>
          <a:xfrm xmlns:a="http://schemas.openxmlformats.org/drawingml/2006/main">
            <a:off x="742950" y="189547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A5967"/>
                </a:solidFill>
                <a:latin typeface="Arial"/>
                <a:ea typeface="Arial"/>
                <a:cs typeface="Arial"/>
              </a:defRPr>
            </a:pPr>
            <a:r>
              <a:rPr sz="1650" b="0">
                <a:solidFill>
                  <a:srgbClr val="4A5967"/>
                </a:solidFill>
                <a:latin typeface="Arial"/>
                <a:ea typeface="Arial"/>
                <a:cs typeface="Arial"/>
              </a:rPr>
              <a:t>Begin with three prepared trades, then follow the partial trade in detail.</a:t>
            </a:r>
          </a:p>
        </p:txBody>
      </p:sp>
      <p:sp>
        <p:nvSpPr>
          <p:cNvPr id="4" name="">
            <a:extLst xmlns:a="http://schemas.openxmlformats.org/drawingml/2006/main">
              <a:ext uri="{FF2B5EF4-FFF2-40B4-BE49-F238E27FC236}">
                <a16:creationId xmlns:a16="http://schemas.microsoft.com/office/drawing/2014/main" id="{06E9BD93-2A3E-4D7F-AD09-5EF6ABDA6377}"/>
              </a:ext>
            </a:extLst>
          </p:cNvPr>
          <p:cNvSpPr>
            <a:spLocks xmlns:a="http://schemas.openxmlformats.org/drawingml/2006/main" noGrp="1"/>
          </p:cNvSpPr>
          <p:nvPr/>
        </p:nvSpPr>
        <p:spPr>
          <a:xfrm xmlns:a="http://schemas.openxmlformats.org/drawingml/2006/main">
            <a:off x="11163300" y="6334125"/>
            <a:ext cx="38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A5967"/>
                </a:solidFill>
                <a:latin typeface="Arial"/>
                <a:ea typeface="Arial"/>
                <a:cs typeface="Arial"/>
              </a:defRPr>
            </a:pPr>
            <a:r>
              <a:rPr sz="1200" b="0">
                <a:solidFill>
                  <a:srgbClr val="4A5967"/>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7B86F22-A9B8-4FAF-A176-2ECA19E5E234}"/>
              </a:ext>
            </a:extLst>
          </p:cNvPr>
          <p:cNvSpPr>
            <a:spLocks xmlns:a="http://schemas.openxmlformats.org/drawingml/2006/main" noGrp="1"/>
          </p:cNvSpPr>
          <p:nvPr/>
        </p:nvSpPr>
        <p:spPr>
          <a:xfrm xmlns:a="http://schemas.openxmlformats.org/drawingml/2006/main">
            <a:off x="800100" y="27622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1  Compare</a:t>
            </a:r>
          </a:p>
        </p:txBody>
      </p:sp>
      <p:sp>
        <p:nvSpPr>
          <p:cNvPr id="6" name="">
            <a:extLst xmlns:a="http://schemas.openxmlformats.org/drawingml/2006/main">
              <a:ext uri="{FF2B5EF4-FFF2-40B4-BE49-F238E27FC236}">
                <a16:creationId xmlns:a16="http://schemas.microsoft.com/office/drawing/2014/main" id="{C5197D96-FF0D-440C-97FD-BA08B367464B}"/>
              </a:ext>
            </a:extLst>
          </p:cNvPr>
          <p:cNvSpPr>
            <a:spLocks xmlns:a="http://schemas.openxmlformats.org/drawingml/2006/main" noGrp="1"/>
          </p:cNvSpPr>
          <p:nvPr/>
        </p:nvSpPr>
        <p:spPr>
          <a:xfrm xmlns:a="http://schemas.openxmlformats.org/drawingml/2006/main">
            <a:off x="800100" y="32861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Start on the trade board and compare open, partial and closed positions.</a:t>
            </a:r>
          </a:p>
        </p:txBody>
      </p:sp>
      <p:sp>
        <p:nvSpPr>
          <p:cNvPr id="7" name="">
            <a:extLst xmlns:a="http://schemas.openxmlformats.org/drawingml/2006/main">
              <a:ext uri="{FF2B5EF4-FFF2-40B4-BE49-F238E27FC236}">
                <a16:creationId xmlns:a16="http://schemas.microsoft.com/office/drawing/2014/main" id="{62731A4A-CA08-4E96-ADAF-B7CFA713C1B8}"/>
              </a:ext>
            </a:extLst>
          </p:cNvPr>
          <p:cNvSpPr>
            <a:spLocks xmlns:a="http://schemas.openxmlformats.org/drawingml/2006/main" noGrp="1"/>
          </p:cNvSpPr>
          <p:nvPr/>
        </p:nvSpPr>
        <p:spPr>
          <a:xfrm xmlns:a="http://schemas.openxmlformats.org/drawingml/2006/main">
            <a:off x="4476750" y="27622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2  Trace</a:t>
            </a:r>
          </a:p>
        </p:txBody>
      </p:sp>
      <p:sp>
        <p:nvSpPr>
          <p:cNvPr id="8" name="">
            <a:extLst xmlns:a="http://schemas.openxmlformats.org/drawingml/2006/main">
              <a:ext uri="{FF2B5EF4-FFF2-40B4-BE49-F238E27FC236}">
                <a16:creationId xmlns:a16="http://schemas.microsoft.com/office/drawing/2014/main" id="{AEDA2648-2AB8-4BB8-886C-5A59E66C4170}"/>
              </a:ext>
            </a:extLst>
          </p:cNvPr>
          <p:cNvSpPr>
            <a:spLocks xmlns:a="http://schemas.openxmlformats.org/drawingml/2006/main" noGrp="1"/>
          </p:cNvSpPr>
          <p:nvPr/>
        </p:nvSpPr>
        <p:spPr>
          <a:xfrm xmlns:a="http://schemas.openxmlformats.org/drawingml/2006/main">
            <a:off x="4476750" y="32861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Open the partial trade and trace its orders, currency, lot and quantities.</a:t>
            </a:r>
          </a:p>
        </p:txBody>
      </p:sp>
      <p:sp>
        <p:nvSpPr>
          <p:cNvPr id="9" name="">
            <a:extLst xmlns:a="http://schemas.openxmlformats.org/drawingml/2006/main">
              <a:ext uri="{FF2B5EF4-FFF2-40B4-BE49-F238E27FC236}">
                <a16:creationId xmlns:a16="http://schemas.microsoft.com/office/drawing/2014/main" id="{033F6A3C-C7E9-4AA3-8452-9CA423C874A4}"/>
              </a:ext>
            </a:extLst>
          </p:cNvPr>
          <p:cNvSpPr>
            <a:spLocks xmlns:a="http://schemas.openxmlformats.org/drawingml/2006/main" noGrp="1"/>
          </p:cNvSpPr>
          <p:nvPr/>
        </p:nvSpPr>
        <p:spPr>
          <a:xfrm xmlns:a="http://schemas.openxmlformats.org/drawingml/2006/main">
            <a:off x="8153400" y="2762250"/>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D425F"/>
                </a:solidFill>
                <a:latin typeface="Arial"/>
                <a:ea typeface="Arial"/>
                <a:cs typeface="Arial"/>
              </a:defRPr>
            </a:pPr>
            <a:r>
              <a:rPr sz="1950" b="1">
                <a:solidFill>
                  <a:srgbClr val="1D425F"/>
                </a:solidFill>
                <a:latin typeface="Arial"/>
                <a:ea typeface="Arial"/>
                <a:cs typeface="Arial"/>
              </a:rPr>
              <a:t>3  Explain</a:t>
            </a:r>
          </a:p>
        </p:txBody>
      </p:sp>
      <p:sp>
        <p:nvSpPr>
          <p:cNvPr id="10" name="">
            <a:extLst xmlns:a="http://schemas.openxmlformats.org/drawingml/2006/main">
              <a:ext uri="{FF2B5EF4-FFF2-40B4-BE49-F238E27FC236}">
                <a16:creationId xmlns:a16="http://schemas.microsoft.com/office/drawing/2014/main" id="{47BE2256-233D-43CD-B10B-AB05C50972EE}"/>
              </a:ext>
            </a:extLst>
          </p:cNvPr>
          <p:cNvSpPr>
            <a:spLocks xmlns:a="http://schemas.openxmlformats.org/drawingml/2006/main" noGrp="1"/>
          </p:cNvSpPr>
          <p:nvPr/>
        </p:nvSpPr>
        <p:spPr>
          <a:xfrm xmlns:a="http://schemas.openxmlformats.org/drawingml/2006/main">
            <a:off x="8153400" y="3286125"/>
            <a:ext cx="323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42333"/>
                </a:solidFill>
                <a:latin typeface="Arial"/>
                <a:ea typeface="Arial"/>
                <a:cs typeface="Arial"/>
              </a:defRPr>
            </a:pPr>
            <a:r>
              <a:rPr sz="1650" b="0">
                <a:solidFill>
                  <a:srgbClr val="142333"/>
                </a:solidFill>
                <a:latin typeface="Arial"/>
                <a:ea typeface="Arial"/>
                <a:cs typeface="Arial"/>
              </a:rPr>
              <a:t>Show P&amp;L, posted additional costs and revenue, budget and reports.</a:t>
            </a:r>
          </a:p>
        </p:txBody>
      </p:sp>
      <p:sp>
        <p:nvSpPr>
          <p:cNvPr id="11" name="">
            <a:extLst xmlns:a="http://schemas.openxmlformats.org/drawingml/2006/main">
              <a:ext uri="{FF2B5EF4-FFF2-40B4-BE49-F238E27FC236}">
                <a16:creationId xmlns:a16="http://schemas.microsoft.com/office/drawing/2014/main" id="{6380C8BD-3474-4E6D-B983-C9689681F271}"/>
              </a:ext>
            </a:extLst>
          </p:cNvPr>
          <p:cNvSpPr>
            <a:spLocks xmlns:a="http://schemas.openxmlformats.org/drawingml/2006/main" noGrp="1"/>
          </p:cNvSpPr>
          <p:nvPr/>
        </p:nvSpPr>
        <p:spPr>
          <a:xfrm xmlns:a="http://schemas.openxmlformats.org/drawingml/2006/main">
            <a:off x="781050" y="5534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B95A38"/>
                </a:solidFill>
                <a:latin typeface="Arial"/>
                <a:ea typeface="Arial"/>
                <a:cs typeface="Arial"/>
              </a:defRPr>
            </a:pPr>
            <a:r>
              <a:rPr sz="1950" b="1">
                <a:solidFill>
                  <a:srgbClr val="B95A38"/>
                </a:solidFill>
                <a:latin typeface="Arial"/>
                <a:ea typeface="Arial"/>
                <a:cs typeface="Arial"/>
              </a:rPr>
              <a:t>Narrate each step as action, system update and business meaning.</a:t>
            </a:r>
          </a:p>
        </p:txBody>
      </p:sp>
    </p:spTree>
    <p:extLst>
      <p:ext uri="{BB962C8B-B14F-4D97-AF65-F5344CB8AC3E}">
        <p14:creationId xmlns:p14="http://schemas.microsoft.com/office/powerpoint/2010/main" val="1111224439"/>
      </p:ext>
    </p:extLst>
  </p:cSld>
</p:sld>
</file>

<file path=ppt/slides/slide14.xml><?xml version="1.0" encoding="utf-8"?>
<p:sld xmlns:p="http://schemas.openxmlformats.org/presentationml/2006/main">
  <p:cSld>
    <p:bg>
      <p:bgPr>
        <a:solidFill xmlns:a="http://schemas.openxmlformats.org/drawingml/2006/main">
          <a:srgbClr val="14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C94B4B-7340-4820-A80B-01A5A179A7EB}"/>
              </a:ext>
            </a:extLst>
          </p:cNvPr>
          <p:cNvSpPr>
            <a:spLocks xmlns:a="http://schemas.openxmlformats.org/drawingml/2006/main" noGrp="1"/>
          </p:cNvSpPr>
          <p:nvPr/>
        </p:nvSpPr>
        <p:spPr>
          <a:xfrm xmlns:a="http://schemas.openxmlformats.org/drawingml/2006/main">
            <a:off x="800100" y="59055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DAB29D"/>
                </a:solidFill>
                <a:latin typeface="Arial"/>
                <a:ea typeface="Arial"/>
                <a:cs typeface="Arial"/>
              </a:defRPr>
            </a:pPr>
            <a:r>
              <a:rPr sz="1425" b="1">
                <a:solidFill>
                  <a:srgbClr val="DAB29D"/>
                </a:solidFill>
                <a:latin typeface="Arial"/>
                <a:ea typeface="Arial"/>
                <a:cs typeface="Arial"/>
              </a:rPr>
              <a:t>THE POINT</a:t>
            </a:r>
          </a:p>
        </p:txBody>
      </p:sp>
      <p:sp>
        <p:nvSpPr>
          <p:cNvPr id="2" name="">
            <a:extLst xmlns:a="http://schemas.openxmlformats.org/drawingml/2006/main">
              <a:ext uri="{FF2B5EF4-FFF2-40B4-BE49-F238E27FC236}">
                <a16:creationId xmlns:a16="http://schemas.microsoft.com/office/drawing/2014/main" id="{CADF3C0B-FEF0-4B49-8572-42F4991DDCB4}"/>
              </a:ext>
            </a:extLst>
          </p:cNvPr>
          <p:cNvSpPr>
            <a:spLocks xmlns:a="http://schemas.openxmlformats.org/drawingml/2006/main" noGrp="1"/>
          </p:cNvSpPr>
          <p:nvPr/>
        </p:nvSpPr>
        <p:spPr>
          <a:xfrm xmlns:a="http://schemas.openxmlformats.org/drawingml/2006/main">
            <a:off x="781050" y="1724025"/>
            <a:ext cx="1028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150" b="0">
                <a:solidFill>
                  <a:srgbClr val="FFFFFF"/>
                </a:solidFill>
                <a:latin typeface="Georgia"/>
                <a:ea typeface="Georgia"/>
                <a:cs typeface="Georgia"/>
              </a:defRPr>
            </a:pPr>
            <a:r>
              <a:rPr sz="6150" b="0">
                <a:solidFill>
                  <a:srgbClr val="FFFFFF"/>
                </a:solidFill>
                <a:latin typeface="Georgia"/>
                <a:ea typeface="Georgia"/>
                <a:cs typeface="Georgia"/>
              </a:rPr>
              <a:t>One trade.</a:t>
            </a:r>
          </a:p>
          <a:p xmlns:a="http://schemas.openxmlformats.org/drawingml/2006/main">
            <a:pPr>
              <a:buNone/>
              <a:defRPr sz="6150" b="0">
                <a:solidFill>
                  <a:srgbClr val="FFFFFF"/>
                </a:solidFill>
                <a:latin typeface="Georgia"/>
                <a:ea typeface="Georgia"/>
                <a:cs typeface="Georgia"/>
              </a:defRPr>
            </a:pPr>
            <a:r>
              <a:rPr sz="6150" b="0">
                <a:solidFill>
                  <a:srgbClr val="FFFFFF"/>
                </a:solidFill>
                <a:latin typeface="Georgia"/>
                <a:ea typeface="Georgia"/>
                <a:cs typeface="Georgia"/>
              </a:rPr>
              <a:t>The whole story.</a:t>
            </a:r>
          </a:p>
        </p:txBody>
      </p:sp>
      <p:sp>
        <p:nvSpPr>
          <p:cNvPr id="3" name="">
            <a:extLst xmlns:a="http://schemas.openxmlformats.org/drawingml/2006/main">
              <a:ext uri="{FF2B5EF4-FFF2-40B4-BE49-F238E27FC236}">
                <a16:creationId xmlns:a16="http://schemas.microsoft.com/office/drawing/2014/main" id="{31AD7445-8EA9-4F20-B9D4-1D5CA7858400}"/>
              </a:ext>
            </a:extLst>
          </p:cNvPr>
          <p:cNvSpPr>
            <a:spLocks xmlns:a="http://schemas.openxmlformats.org/drawingml/2006/main" noGrp="1"/>
          </p:cNvSpPr>
          <p:nvPr/>
        </p:nvSpPr>
        <p:spPr>
          <a:xfrm xmlns:a="http://schemas.openxmlformats.org/drawingml/2006/main">
            <a:off x="819150" y="4552950"/>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FFFFF"/>
                </a:solidFill>
                <a:latin typeface="Arial"/>
                <a:ea typeface="Arial"/>
                <a:cs typeface="Arial"/>
              </a:defRPr>
            </a:pPr>
            <a:r>
              <a:rPr sz="2175" b="0">
                <a:solidFill>
                  <a:srgbClr val="FFFFFF"/>
                </a:solidFill>
                <a:latin typeface="Arial"/>
                <a:ea typeface="Arial"/>
                <a:cs typeface="Arial"/>
              </a:rPr>
              <a:t>The module connects orders, accounting and stock into a live commodity position with one financial result.</a:t>
            </a:r>
          </a:p>
        </p:txBody>
      </p:sp>
      <p:sp>
        <p:nvSpPr>
          <p:cNvPr id="4" name="">
            <a:extLst xmlns:a="http://schemas.openxmlformats.org/drawingml/2006/main">
              <a:ext uri="{FF2B5EF4-FFF2-40B4-BE49-F238E27FC236}">
                <a16:creationId xmlns:a16="http://schemas.microsoft.com/office/drawing/2014/main" id="{F41E3EF6-00D8-4C89-A015-3A8B27AC8F45}"/>
              </a:ext>
            </a:extLst>
          </p:cNvPr>
          <p:cNvSpPr>
            <a:spLocks xmlns:a="http://schemas.openxmlformats.org/drawingml/2006/main" noGrp="1"/>
          </p:cNvSpPr>
          <p:nvPr/>
        </p:nvSpPr>
        <p:spPr>
          <a:xfrm xmlns:a="http://schemas.openxmlformats.org/drawingml/2006/main">
            <a:off x="819150" y="59817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DAB29D"/>
                </a:solidFill>
                <a:latin typeface="Arial"/>
                <a:ea typeface="Arial"/>
                <a:cs typeface="Arial"/>
              </a:defRPr>
            </a:pPr>
            <a:r>
              <a:rPr sz="1725" b="1">
                <a:solidFill>
                  <a:srgbClr val="DAB29D"/>
                </a:solidFill>
                <a:latin typeface="Arial"/>
                <a:ea typeface="Arial"/>
                <a:cs typeface="Arial"/>
              </a:rPr>
              <a:t>That is what the standard document flow did not provide.</a:t>
            </a:r>
          </a:p>
        </p:txBody>
      </p:sp>
    </p:spTree>
    <p:extLst>
      <p:ext uri="{BB962C8B-B14F-4D97-AF65-F5344CB8AC3E}">
        <p14:creationId xmlns:p14="http://schemas.microsoft.com/office/powerpoint/2010/main" val="210315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2026-09-24T05:00:09.7680000Z</dcterms:created>
  <dcterms:modified xsi:type="dcterms:W3CDTF">2026-09-24T05:00:09.7680000Z</dcterms:modified>
</coreProperties>
</file>